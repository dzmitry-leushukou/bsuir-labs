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802" y="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83dc4d7575_0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83dc4d7575_0_1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3dc4d7575_0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83dc4d7575_0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83dc4d7575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83dc4d7575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83dc4d7575_0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83dc4d7575_0_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83dc4d7575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83dc4d7575_0_1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83dc4d7575_0_1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83dc4d7575_0_1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83dc4d7575_0_2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83dc4d7575_0_2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83dc4d7575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83dc4d7575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e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e" sz="5400">
                <a:solidFill>
                  <a:schemeClr val="accent6"/>
                </a:solidFill>
              </a:rPr>
              <a:t>Функциональное тестирование программного обеспечения</a:t>
            </a:r>
            <a:endParaRPr sz="600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-25" y="0"/>
            <a:ext cx="9144000" cy="7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e" sz="3500">
                <a:solidFill>
                  <a:schemeClr val="accent6"/>
                </a:solidFill>
              </a:rPr>
              <a:t>Что такое функциональное тестирование?</a:t>
            </a:r>
            <a:endParaRPr sz="4100">
              <a:solidFill>
                <a:schemeClr val="accent6"/>
              </a:solidFill>
            </a:endParaRPr>
          </a:p>
        </p:txBody>
      </p:sp>
      <p:sp>
        <p:nvSpPr>
          <p:cNvPr id="60" name="Google Shape;60;p14"/>
          <p:cNvSpPr/>
          <p:nvPr/>
        </p:nvSpPr>
        <p:spPr>
          <a:xfrm>
            <a:off x="-1037900" y="-203650"/>
            <a:ext cx="10816800" cy="963600"/>
          </a:xfrm>
          <a:prstGeom prst="rect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14"/>
          <p:cNvSpPr txBox="1"/>
          <p:nvPr/>
        </p:nvSpPr>
        <p:spPr>
          <a:xfrm>
            <a:off x="0" y="759950"/>
            <a:ext cx="9144000" cy="43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be" sz="2000">
                <a:solidFill>
                  <a:srgbClr val="FFD966"/>
                </a:solidFill>
              </a:rPr>
              <a:t>Если представить себе программный продукт как черный ящик, то функциональное тестирование — это процесс проверки этого ящика без необходимости заглядывать внутрь. Мы не смотрим на исходный код. Вместо этого мы:</a:t>
            </a:r>
            <a:endParaRPr sz="2000">
              <a:solidFill>
                <a:srgbClr val="FFD966"/>
              </a:solidFill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D966"/>
              </a:buClr>
              <a:buSzPts val="2000"/>
              <a:buChar char="●"/>
            </a:pPr>
            <a:r>
              <a:rPr lang="be" sz="2000">
                <a:solidFill>
                  <a:srgbClr val="FFD966"/>
                </a:solidFill>
              </a:rPr>
              <a:t>Подаем на вход определенные данные или действия.</a:t>
            </a:r>
            <a:endParaRPr sz="2000">
              <a:solidFill>
                <a:srgbClr val="FFD966"/>
              </a:solidFill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D966"/>
              </a:buClr>
              <a:buSzPts val="2000"/>
              <a:buChar char="●"/>
            </a:pPr>
            <a:r>
              <a:rPr lang="be" sz="2000">
                <a:solidFill>
                  <a:srgbClr val="FFD966"/>
                </a:solidFill>
              </a:rPr>
              <a:t>Наблюдаем за выходом — результатом, который выдает система.</a:t>
            </a:r>
            <a:endParaRPr sz="2000">
              <a:solidFill>
                <a:srgbClr val="FFD966"/>
              </a:solidFill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D966"/>
              </a:buClr>
              <a:buSzPts val="2000"/>
              <a:buChar char="●"/>
            </a:pPr>
            <a:r>
              <a:rPr lang="be" sz="2000">
                <a:solidFill>
                  <a:srgbClr val="FFD966"/>
                </a:solidFill>
              </a:rPr>
              <a:t>Сравниваем полученный результат с ожидаемым, который описан в требованиях, спецификациях или просто в здравом смысле.</a:t>
            </a:r>
            <a:endParaRPr sz="2000">
              <a:solidFill>
                <a:srgbClr val="FFD966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be" sz="2000">
                <a:solidFill>
                  <a:srgbClr val="FFD966"/>
                </a:solidFill>
              </a:rPr>
              <a:t>Цель — убедиться, что каждая функция программного приложения работает в соответствии с заданными требованиями.</a:t>
            </a:r>
            <a:endParaRPr sz="2000">
              <a:solidFill>
                <a:srgbClr val="FFD966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0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/>
        </p:nvSpPr>
        <p:spPr>
          <a:xfrm>
            <a:off x="-25" y="0"/>
            <a:ext cx="9144000" cy="7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e" sz="3500">
                <a:solidFill>
                  <a:schemeClr val="accent6"/>
                </a:solidFill>
              </a:rPr>
              <a:t>Что такое функциональное тестирование?</a:t>
            </a:r>
            <a:endParaRPr sz="4100">
              <a:solidFill>
                <a:schemeClr val="accent6"/>
              </a:solidFill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-1037900" y="-203650"/>
            <a:ext cx="10816800" cy="963600"/>
          </a:xfrm>
          <a:prstGeom prst="rect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15"/>
          <p:cNvSpPr txBox="1"/>
          <p:nvPr/>
        </p:nvSpPr>
        <p:spPr>
          <a:xfrm>
            <a:off x="0" y="759950"/>
            <a:ext cx="9144000" cy="43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be" sz="1600" dirty="0">
                <a:solidFill>
                  <a:srgbClr val="FFD966"/>
                </a:solidFill>
              </a:rPr>
              <a:t>Чтобы лучше понять функциональное тестирование, важно отделить его от нефункционального.</a:t>
            </a:r>
            <a:endParaRPr sz="1600" dirty="0">
              <a:solidFill>
                <a:srgbClr val="FFD966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D966"/>
              </a:buClr>
              <a:buSzPts val="1700"/>
              <a:buChar char="●"/>
            </a:pPr>
            <a:r>
              <a:rPr lang="be" sz="1600" dirty="0">
                <a:solidFill>
                  <a:srgbClr val="FFD966"/>
                </a:solidFill>
              </a:rPr>
              <a:t>Функциональное тестирование отвечает на вопрос «ЧТО система делает?»</a:t>
            </a:r>
            <a:endParaRPr sz="1600" dirty="0">
              <a:solidFill>
                <a:srgbClr val="FFD966"/>
              </a:solidFill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D966"/>
              </a:buClr>
              <a:buSzPts val="1700"/>
              <a:buChar char="○"/>
            </a:pPr>
            <a:r>
              <a:rPr lang="be" sz="1600" i="1" dirty="0">
                <a:solidFill>
                  <a:srgbClr val="FFD966"/>
                </a:solidFill>
              </a:rPr>
              <a:t>Пример:</a:t>
            </a:r>
            <a:r>
              <a:rPr lang="be" sz="1600" dirty="0">
                <a:solidFill>
                  <a:srgbClr val="FFD966"/>
                </a:solidFill>
              </a:rPr>
              <a:t> Кнопка «Оплатить» проводит платеж и создает заказ.</a:t>
            </a:r>
            <a:endParaRPr sz="1600" dirty="0">
              <a:solidFill>
                <a:srgbClr val="FFD966"/>
              </a:solidFill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D966"/>
              </a:buClr>
              <a:buSzPts val="1700"/>
              <a:buChar char="○"/>
            </a:pPr>
            <a:r>
              <a:rPr lang="be" sz="1600" i="1" dirty="0">
                <a:solidFill>
                  <a:srgbClr val="FFD966"/>
                </a:solidFill>
              </a:rPr>
              <a:t>Пример:</a:t>
            </a:r>
            <a:r>
              <a:rPr lang="be" sz="1600" dirty="0">
                <a:solidFill>
                  <a:srgbClr val="FFD966"/>
                </a:solidFill>
              </a:rPr>
              <a:t> Поле «Email» проверяет введенные данные на корректность формата.</a:t>
            </a:r>
            <a:endParaRPr sz="1600" dirty="0">
              <a:solidFill>
                <a:srgbClr val="FFD966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D966"/>
              </a:buClr>
              <a:buSzPts val="1700"/>
              <a:buChar char="●"/>
            </a:pPr>
            <a:r>
              <a:rPr lang="be" sz="1600" dirty="0">
                <a:solidFill>
                  <a:srgbClr val="FFD966"/>
                </a:solidFill>
              </a:rPr>
              <a:t>Нефункциональное тестирование отвечает на вопрос «КАК система это делает?»</a:t>
            </a:r>
            <a:endParaRPr sz="1600" dirty="0">
              <a:solidFill>
                <a:srgbClr val="FFD966"/>
              </a:solidFill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D966"/>
              </a:buClr>
              <a:buSzPts val="1700"/>
              <a:buChar char="○"/>
            </a:pPr>
            <a:r>
              <a:rPr lang="be" sz="1600" dirty="0">
                <a:solidFill>
                  <a:srgbClr val="FFD966"/>
                </a:solidFill>
              </a:rPr>
              <a:t>Производительность: Насколько быстро работает система под нагрузкой?</a:t>
            </a:r>
            <a:endParaRPr sz="1600" dirty="0">
              <a:solidFill>
                <a:srgbClr val="FFD966"/>
              </a:solidFill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D966"/>
              </a:buClr>
              <a:buSzPts val="1700"/>
              <a:buChar char="○"/>
            </a:pPr>
            <a:r>
              <a:rPr lang="be" sz="1600" dirty="0">
                <a:solidFill>
                  <a:srgbClr val="FFD966"/>
                </a:solidFill>
              </a:rPr>
              <a:t>Безопасность: Насколько хорошо система защищена от атак?</a:t>
            </a:r>
            <a:endParaRPr sz="1600" dirty="0">
              <a:solidFill>
                <a:srgbClr val="FFD966"/>
              </a:solidFill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D966"/>
              </a:buClr>
              <a:buSzPts val="1700"/>
              <a:buChar char="○"/>
            </a:pPr>
            <a:r>
              <a:rPr lang="be" sz="1600" dirty="0">
                <a:solidFill>
                  <a:srgbClr val="FFD966"/>
                </a:solidFill>
              </a:rPr>
              <a:t>Удобство использования (Usability): Насколько понятен и удобен интерфейс для пользователя?</a:t>
            </a:r>
            <a:endParaRPr sz="1600" dirty="0">
              <a:solidFill>
                <a:srgbClr val="FFD966"/>
              </a:solidFill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D966"/>
              </a:buClr>
              <a:buSzPts val="1700"/>
              <a:buChar char="○"/>
            </a:pPr>
            <a:r>
              <a:rPr lang="be" sz="1600" dirty="0">
                <a:solidFill>
                  <a:srgbClr val="FFD966"/>
                </a:solidFill>
              </a:rPr>
              <a:t>Надежность: Может ли система стабильно работать долгое время?</a:t>
            </a:r>
            <a:endParaRPr sz="1600" dirty="0">
              <a:solidFill>
                <a:srgbClr val="FFD966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be" sz="1600" dirty="0">
                <a:solidFill>
                  <a:srgbClr val="FFD966"/>
                </a:solidFill>
              </a:rPr>
              <a:t>Проще говоря, функциональное тестирование проверяет правильность, а нефункциональное — качество этой правильности.</a:t>
            </a:r>
            <a:endParaRPr sz="1600" dirty="0">
              <a:solidFill>
                <a:srgbClr val="FFD966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 dirty="0">
              <a:solidFill>
                <a:srgbClr val="FFD966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/>
          <p:nvPr/>
        </p:nvSpPr>
        <p:spPr>
          <a:xfrm>
            <a:off x="-1037900" y="-203650"/>
            <a:ext cx="10816800" cy="963600"/>
          </a:xfrm>
          <a:prstGeom prst="rect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16"/>
          <p:cNvSpPr txBox="1"/>
          <p:nvPr/>
        </p:nvSpPr>
        <p:spPr>
          <a:xfrm>
            <a:off x="-25" y="0"/>
            <a:ext cx="9144000" cy="7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e" sz="3500">
                <a:solidFill>
                  <a:schemeClr val="accent6"/>
                </a:solidFill>
              </a:rPr>
              <a:t>Уровни функционального тестирования</a:t>
            </a:r>
            <a:endParaRPr sz="4100">
              <a:solidFill>
                <a:schemeClr val="accent6"/>
              </a:solidFill>
            </a:endParaRPr>
          </a:p>
        </p:txBody>
      </p:sp>
      <p:sp>
        <p:nvSpPr>
          <p:cNvPr id="75" name="Google Shape;75;p16"/>
          <p:cNvSpPr txBox="1"/>
          <p:nvPr/>
        </p:nvSpPr>
        <p:spPr>
          <a:xfrm>
            <a:off x="0" y="759950"/>
            <a:ext cx="9144000" cy="43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be" sz="1600">
                <a:solidFill>
                  <a:srgbClr val="FFD966"/>
                </a:solidFill>
              </a:rPr>
              <a:t>Функциональное тестирование проводится на разных этапах жизненного цикла разработки, охватывая систему от маленьких деталей до целого:</a:t>
            </a:r>
            <a:endParaRPr sz="1600">
              <a:solidFill>
                <a:srgbClr val="FFD966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D966"/>
              </a:buClr>
              <a:buSzPts val="1600"/>
              <a:buAutoNum type="arabicPeriod"/>
            </a:pPr>
            <a:r>
              <a:rPr lang="be" sz="1600">
                <a:solidFill>
                  <a:srgbClr val="FFD966"/>
                </a:solidFill>
              </a:rPr>
              <a:t>Модульное тестирование (Unit Testing): Проверяет отдельные маленькие части программы — функции, методы или классы. Выполняется разработчиками.</a:t>
            </a:r>
            <a:endParaRPr sz="1600">
              <a:solidFill>
                <a:srgbClr val="FFD966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D966"/>
              </a:buClr>
              <a:buSzPts val="1600"/>
              <a:buAutoNum type="arabicPeriod"/>
            </a:pPr>
            <a:r>
              <a:rPr lang="be" sz="1600">
                <a:solidFill>
                  <a:srgbClr val="FFD966"/>
                </a:solidFill>
              </a:rPr>
              <a:t>Интеграционное тестирование (Integration Testing): Проверяет взаимодействие между несколькими модулями или системами. Убеждаемся, что они правильно обмениваются данными.</a:t>
            </a:r>
            <a:endParaRPr sz="1600">
              <a:solidFill>
                <a:srgbClr val="FFD966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D966"/>
              </a:buClr>
              <a:buSzPts val="1600"/>
              <a:buAutoNum type="arabicPeriod"/>
            </a:pPr>
            <a:r>
              <a:rPr lang="be" sz="1600">
                <a:solidFill>
                  <a:srgbClr val="FFD966"/>
                </a:solidFill>
              </a:rPr>
              <a:t>Системное тестирование (System Testing): Проверяет полностью интегрированное приложение «от и до». Это именно то, что чаще всего и называют функциональным тестированием — тестирование системы в среде, максимально приближенной к боевой.</a:t>
            </a:r>
            <a:endParaRPr sz="1600">
              <a:solidFill>
                <a:srgbClr val="FFD966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D966"/>
              </a:buClr>
              <a:buSzPts val="1600"/>
              <a:buAutoNum type="arabicPeriod"/>
            </a:pPr>
            <a:r>
              <a:rPr lang="be" sz="1600">
                <a:solidFill>
                  <a:srgbClr val="FFD966"/>
                </a:solidFill>
              </a:rPr>
              <a:t>Приемочное тестирование (Acceptance Testing): Финальная проверка заказчиком или конечным пользователем. Цель — подтвердить, что система готова к выпуску и удовлетворяет всем бизнес-требованиям.</a:t>
            </a:r>
            <a:endParaRPr sz="1600">
              <a:solidFill>
                <a:srgbClr val="FFD966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>
              <a:solidFill>
                <a:srgbClr val="FFD966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/>
          <p:nvPr/>
        </p:nvSpPr>
        <p:spPr>
          <a:xfrm>
            <a:off x="-1037900" y="-203650"/>
            <a:ext cx="10816800" cy="963600"/>
          </a:xfrm>
          <a:prstGeom prst="rect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17"/>
          <p:cNvSpPr txBox="1"/>
          <p:nvPr/>
        </p:nvSpPr>
        <p:spPr>
          <a:xfrm>
            <a:off x="-25" y="0"/>
            <a:ext cx="9144000" cy="7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e" sz="3500">
                <a:solidFill>
                  <a:schemeClr val="accent6"/>
                </a:solidFill>
              </a:rPr>
              <a:t>Ключевые техники тест-дизайна</a:t>
            </a:r>
            <a:endParaRPr sz="4100">
              <a:solidFill>
                <a:schemeClr val="accent6"/>
              </a:solidFill>
            </a:endParaRPr>
          </a:p>
        </p:txBody>
      </p:sp>
      <p:sp>
        <p:nvSpPr>
          <p:cNvPr id="82" name="Google Shape;82;p17"/>
          <p:cNvSpPr txBox="1"/>
          <p:nvPr/>
        </p:nvSpPr>
        <p:spPr>
          <a:xfrm>
            <a:off x="0" y="759950"/>
            <a:ext cx="9144000" cy="43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e" sz="1600">
                <a:solidFill>
                  <a:srgbClr val="FFD966"/>
                </a:solidFill>
              </a:rPr>
              <a:t>Чтобы тестирование было эффективным, а не хаотичным, мы используем техники тест-дизайна. Вот основные из них:</a:t>
            </a:r>
            <a:endParaRPr sz="1600">
              <a:solidFill>
                <a:srgbClr val="FFD96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FFD96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e" sz="1600">
                <a:solidFill>
                  <a:srgbClr val="FFD966"/>
                </a:solidFill>
              </a:rPr>
              <a:t>Эквивалентное Разделение (Equivalence Partitioning): Мы делим все возможные входные данные на группы («классы эквивалентности»), где данные внутри одной группы должны обрабатываться одинаково. Достаточно протестировать по одному значению из каждой группы.</a:t>
            </a:r>
            <a:endParaRPr sz="1600">
              <a:solidFill>
                <a:srgbClr val="FFD96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FFD96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e" sz="1600">
                <a:solidFill>
                  <a:srgbClr val="FFD966"/>
                </a:solidFill>
              </a:rPr>
              <a:t>Пример: Поле «Возраст» должно принимать значения от 18 до 65. Мы можем выделить три класса: невалидные (меньше 18), валидные (от 18 до 65), и невалидные (больше 65).</a:t>
            </a:r>
            <a:endParaRPr sz="1600">
              <a:solidFill>
                <a:srgbClr val="FFD96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FFD96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e" sz="1600">
                <a:solidFill>
                  <a:srgbClr val="FFD966"/>
                </a:solidFill>
              </a:rPr>
              <a:t>Анализ Граничных Значений (Boundary Value Analysis): Опыт показывает, что ошибки часто возникают на границах этих классов. Поэтому мы тестируем не только значения внутри, но и на самих границах.</a:t>
            </a:r>
            <a:endParaRPr sz="1600">
              <a:solidFill>
                <a:srgbClr val="FFD96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FFD96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e" sz="1600">
                <a:solidFill>
                  <a:srgbClr val="FFD966"/>
                </a:solidFill>
              </a:rPr>
              <a:t>Пример: Для того же поля «Возраст» мы проверим значения 17, 18, 19, 64, 65, 66.</a:t>
            </a:r>
            <a:endParaRPr sz="1600">
              <a:solidFill>
                <a:srgbClr val="FFD96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FFD966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/>
          <p:nvPr/>
        </p:nvSpPr>
        <p:spPr>
          <a:xfrm>
            <a:off x="-1037900" y="-203650"/>
            <a:ext cx="10816800" cy="963600"/>
          </a:xfrm>
          <a:prstGeom prst="rect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8"/>
          <p:cNvSpPr txBox="1"/>
          <p:nvPr/>
        </p:nvSpPr>
        <p:spPr>
          <a:xfrm>
            <a:off x="-25" y="0"/>
            <a:ext cx="9144000" cy="7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e" sz="3500">
                <a:solidFill>
                  <a:schemeClr val="accent6"/>
                </a:solidFill>
              </a:rPr>
              <a:t>Ключевые техники тест-дизайна</a:t>
            </a:r>
            <a:endParaRPr sz="4100">
              <a:solidFill>
                <a:schemeClr val="accent6"/>
              </a:solidFill>
            </a:endParaRPr>
          </a:p>
        </p:txBody>
      </p:sp>
      <p:sp>
        <p:nvSpPr>
          <p:cNvPr id="89" name="Google Shape;89;p18"/>
          <p:cNvSpPr txBox="1"/>
          <p:nvPr/>
        </p:nvSpPr>
        <p:spPr>
          <a:xfrm>
            <a:off x="0" y="759950"/>
            <a:ext cx="9144000" cy="43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e" sz="1700">
                <a:solidFill>
                  <a:srgbClr val="FFD966"/>
                </a:solidFill>
              </a:rPr>
              <a:t>Таблица Решений (Decision Table): Идеальна для проверки бизнес-логики, где результат зависит от комбинации условий.</a:t>
            </a:r>
            <a:endParaRPr sz="1700">
              <a:solidFill>
                <a:srgbClr val="FFD96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rgbClr val="FFD96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e" sz="1700">
                <a:solidFill>
                  <a:srgbClr val="FFD966"/>
                </a:solidFill>
              </a:rPr>
              <a:t>Пример: Правила скидки: «Скидка 10% предоставляется, если пользователь является постоянным клиентом ИЛИ сумма заказа больше 1000 руб.». Мы создаем таблицу со всеми комбинациями условий (Да/Да, Да/Нет, Нет/Да, Нет/Нет) и проверяем результат для каждой.</a:t>
            </a:r>
            <a:endParaRPr sz="1700">
              <a:solidFill>
                <a:srgbClr val="FFD96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rgbClr val="FFD96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e" sz="1700">
                <a:solidFill>
                  <a:srgbClr val="FFD966"/>
                </a:solidFill>
              </a:rPr>
              <a:t>Тестирование на основе сценариев использования (Use Case Testing): Мы описываем тесты, имитирующие реальные действия пользователя для достижения конкретной цели.</a:t>
            </a:r>
            <a:endParaRPr sz="1700">
              <a:solidFill>
                <a:srgbClr val="FFD96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rgbClr val="FFD96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e" sz="1700">
                <a:solidFill>
                  <a:srgbClr val="FFD966"/>
                </a:solidFill>
              </a:rPr>
              <a:t>Пример: Сценарий «Оформление заказа»: пользователь входит в систему, добавляет товар в корзину, переходит к оплате, вводит данные, подтверждает заказ.</a:t>
            </a:r>
            <a:endParaRPr sz="1700">
              <a:solidFill>
                <a:srgbClr val="FFD966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/>
          <p:nvPr/>
        </p:nvSpPr>
        <p:spPr>
          <a:xfrm>
            <a:off x="-1037900" y="-203650"/>
            <a:ext cx="10816800" cy="963600"/>
          </a:xfrm>
          <a:prstGeom prst="rect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9"/>
          <p:cNvSpPr txBox="1"/>
          <p:nvPr/>
        </p:nvSpPr>
        <p:spPr>
          <a:xfrm>
            <a:off x="-25" y="0"/>
            <a:ext cx="9144000" cy="7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e" sz="3500">
                <a:solidFill>
                  <a:schemeClr val="accent6"/>
                </a:solidFill>
              </a:rPr>
              <a:t>Пример: тестирование поля поиска</a:t>
            </a:r>
            <a:endParaRPr sz="4100">
              <a:solidFill>
                <a:schemeClr val="accent6"/>
              </a:solidFill>
            </a:endParaRPr>
          </a:p>
        </p:txBody>
      </p:sp>
      <p:sp>
        <p:nvSpPr>
          <p:cNvPr id="96" name="Google Shape;96;p19"/>
          <p:cNvSpPr txBox="1"/>
          <p:nvPr/>
        </p:nvSpPr>
        <p:spPr>
          <a:xfrm>
            <a:off x="0" y="759950"/>
            <a:ext cx="9144000" cy="43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be" sz="1600">
                <a:solidFill>
                  <a:srgbClr val="FFD966"/>
                </a:solidFill>
              </a:rPr>
              <a:t>Давайте протестируем простое поле поиска на сайте.</a:t>
            </a:r>
            <a:endParaRPr sz="1600">
              <a:solidFill>
                <a:srgbClr val="FFD966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be" sz="1600">
                <a:solidFill>
                  <a:srgbClr val="FFD966"/>
                </a:solidFill>
              </a:rPr>
              <a:t>Что проверяем (функциональность):</a:t>
            </a:r>
            <a:endParaRPr sz="1600">
              <a:solidFill>
                <a:srgbClr val="FFD966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FFD966"/>
              </a:buClr>
              <a:buSzPts val="1600"/>
              <a:buAutoNum type="arabicPeriod"/>
            </a:pPr>
            <a:r>
              <a:rPr lang="be" sz="1600">
                <a:solidFill>
                  <a:srgbClr val="FFD966"/>
                </a:solidFill>
              </a:rPr>
              <a:t>Поиск по существующему ключевому слову → Должен выдать релевантные результаты.</a:t>
            </a:r>
            <a:endParaRPr sz="1600">
              <a:solidFill>
                <a:srgbClr val="FFD966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D966"/>
              </a:buClr>
              <a:buSzPts val="1600"/>
              <a:buAutoNum type="arabicPeriod"/>
            </a:pPr>
            <a:r>
              <a:rPr lang="be" sz="1600">
                <a:solidFill>
                  <a:srgbClr val="FFD966"/>
                </a:solidFill>
              </a:rPr>
              <a:t>Поиск по несуществующему ключевому слову → Должен показать сообщение «Ничего не найдено».</a:t>
            </a:r>
            <a:endParaRPr sz="1600">
              <a:solidFill>
                <a:srgbClr val="FFD966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D966"/>
              </a:buClr>
              <a:buSzPts val="1600"/>
              <a:buAutoNum type="arabicPeriod"/>
            </a:pPr>
            <a:r>
              <a:rPr lang="be" sz="1600">
                <a:solidFill>
                  <a:srgbClr val="FFD966"/>
                </a:solidFill>
              </a:rPr>
              <a:t>Поиск с пустым полем и нажатием кнопки «Найти» → Должен либо показать все товары, либо выдать предупреждение.</a:t>
            </a:r>
            <a:endParaRPr sz="1600">
              <a:solidFill>
                <a:srgbClr val="FFD966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D966"/>
              </a:buClr>
              <a:buSzPts val="1600"/>
              <a:buAutoNum type="arabicPeriod"/>
            </a:pPr>
            <a:r>
              <a:rPr lang="be" sz="1600">
                <a:solidFill>
                  <a:srgbClr val="FFD966"/>
                </a:solidFill>
              </a:rPr>
              <a:t>Поиск с специальными символами → Система должна корректно обработать запрос или выдать ошибку.</a:t>
            </a:r>
            <a:endParaRPr sz="1600">
              <a:solidFill>
                <a:srgbClr val="FFD966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be" sz="1600">
                <a:solidFill>
                  <a:srgbClr val="FFD966"/>
                </a:solidFill>
              </a:rPr>
              <a:t>Это и есть суть функционального тестирования — проверить каждое поведение системы согласно ожиданиям.</a:t>
            </a:r>
            <a:endParaRPr sz="1600">
              <a:solidFill>
                <a:srgbClr val="FFD966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>
              <a:solidFill>
                <a:srgbClr val="FFD966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/>
          <p:nvPr/>
        </p:nvSpPr>
        <p:spPr>
          <a:xfrm>
            <a:off x="-1037900" y="-203650"/>
            <a:ext cx="10816800" cy="963600"/>
          </a:xfrm>
          <a:prstGeom prst="rect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0"/>
          <p:cNvSpPr txBox="1"/>
          <p:nvPr/>
        </p:nvSpPr>
        <p:spPr>
          <a:xfrm>
            <a:off x="-25" y="0"/>
            <a:ext cx="9144000" cy="7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e" sz="3500">
                <a:solidFill>
                  <a:schemeClr val="accent6"/>
                </a:solidFill>
              </a:rPr>
              <a:t>Заключение</a:t>
            </a:r>
            <a:endParaRPr sz="4100">
              <a:solidFill>
                <a:schemeClr val="accent6"/>
              </a:solidFill>
            </a:endParaRPr>
          </a:p>
        </p:txBody>
      </p:sp>
      <p:sp>
        <p:nvSpPr>
          <p:cNvPr id="103" name="Google Shape;103;p20"/>
          <p:cNvSpPr txBox="1"/>
          <p:nvPr/>
        </p:nvSpPr>
        <p:spPr>
          <a:xfrm>
            <a:off x="0" y="759950"/>
            <a:ext cx="9144000" cy="43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be" sz="1500" dirty="0">
                <a:solidFill>
                  <a:srgbClr val="FFD966"/>
                </a:solidFill>
              </a:rPr>
              <a:t>Итак, давайте подведем итоги:</a:t>
            </a:r>
            <a:endParaRPr sz="1500" dirty="0">
              <a:solidFill>
                <a:srgbClr val="FFD966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D966"/>
              </a:buClr>
              <a:buSzPts val="1600"/>
              <a:buChar char="●"/>
            </a:pPr>
            <a:r>
              <a:rPr lang="be" sz="1500" dirty="0">
                <a:solidFill>
                  <a:srgbClr val="FFD966"/>
                </a:solidFill>
              </a:rPr>
              <a:t>Функциональное тестирование — это основа обеспечения качества ПО. Оно проверяет, что делает система.</a:t>
            </a:r>
            <a:endParaRPr sz="1500" dirty="0">
              <a:solidFill>
                <a:srgbClr val="FFD966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D966"/>
              </a:buClr>
              <a:buSzPts val="1600"/>
              <a:buChar char="●"/>
            </a:pPr>
            <a:r>
              <a:rPr lang="be" sz="1500" dirty="0">
                <a:solidFill>
                  <a:srgbClr val="FFD966"/>
                </a:solidFill>
              </a:rPr>
              <a:t>Его главная цель — валидация поведения программы против заранее определенных требований.</a:t>
            </a:r>
            <a:endParaRPr sz="1500" dirty="0">
              <a:solidFill>
                <a:srgbClr val="FFD966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D966"/>
              </a:buClr>
              <a:buSzPts val="1600"/>
              <a:buChar char="●"/>
            </a:pPr>
            <a:r>
              <a:rPr lang="be" sz="1500" dirty="0">
                <a:solidFill>
                  <a:srgbClr val="FFD966"/>
                </a:solidFill>
              </a:rPr>
              <a:t>Оно проводится на разных уровнях (модульное, интеграционное, системное, приемочное).</a:t>
            </a:r>
            <a:endParaRPr sz="1500" dirty="0">
              <a:solidFill>
                <a:srgbClr val="FFD966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D966"/>
              </a:buClr>
              <a:buSzPts val="1600"/>
              <a:buChar char="●"/>
            </a:pPr>
            <a:r>
              <a:rPr lang="be" sz="1500" dirty="0">
                <a:solidFill>
                  <a:srgbClr val="FFD966"/>
                </a:solidFill>
              </a:rPr>
              <a:t>Для эффективности и полноты покрытия используются различные техники тест-дизайна.</a:t>
            </a:r>
            <a:endParaRPr sz="1500" dirty="0">
              <a:solidFill>
                <a:srgbClr val="FFD966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D966"/>
              </a:buClr>
              <a:buSzPts val="1600"/>
              <a:buChar char="●"/>
            </a:pPr>
            <a:r>
              <a:rPr lang="be" sz="1500" dirty="0">
                <a:solidFill>
                  <a:srgbClr val="FFD966"/>
                </a:solidFill>
              </a:rPr>
              <a:t>В конечном счете, качественное функциональное тестирование напрямую влияет на удовлетворенность пользователей, снижая количество критических ошибок после выпуска продукта.</a:t>
            </a:r>
            <a:endParaRPr sz="1500" dirty="0">
              <a:solidFill>
                <a:srgbClr val="FFD966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be" sz="1500" dirty="0">
                <a:solidFill>
                  <a:srgbClr val="FFD966"/>
                </a:solidFill>
              </a:rPr>
              <a:t>Функциональное тестирование — это не просто «пощелкать кнопки». Это дисциплинированный, структурированный процесс, который превращает требования в работающий и надежный продукт.</a:t>
            </a:r>
            <a:endParaRPr sz="1500" dirty="0">
              <a:solidFill>
                <a:srgbClr val="FFD966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rgbClr val="FFD966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/>
          <p:nvPr/>
        </p:nvSpPr>
        <p:spPr>
          <a:xfrm>
            <a:off x="-1037900" y="-203650"/>
            <a:ext cx="10816800" cy="963600"/>
          </a:xfrm>
          <a:prstGeom prst="rect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21"/>
          <p:cNvSpPr txBox="1"/>
          <p:nvPr/>
        </p:nvSpPr>
        <p:spPr>
          <a:xfrm>
            <a:off x="-25" y="0"/>
            <a:ext cx="9144000" cy="7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e" sz="3500">
                <a:solidFill>
                  <a:schemeClr val="accent6"/>
                </a:solidFill>
              </a:rPr>
              <a:t>Список использованных источников</a:t>
            </a:r>
            <a:endParaRPr sz="4100">
              <a:solidFill>
                <a:schemeClr val="accent6"/>
              </a:solidFill>
            </a:endParaRPr>
          </a:p>
        </p:txBody>
      </p:sp>
      <p:sp>
        <p:nvSpPr>
          <p:cNvPr id="110" name="Google Shape;110;p21"/>
          <p:cNvSpPr txBox="1"/>
          <p:nvPr/>
        </p:nvSpPr>
        <p:spPr>
          <a:xfrm>
            <a:off x="0" y="759950"/>
            <a:ext cx="9144000" cy="43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e" sz="1600">
                <a:solidFill>
                  <a:srgbClr val="FFD966"/>
                </a:solidFill>
              </a:rPr>
              <a:t>[1] Software Testing Help [Электронный ресурс]. – Режим доступа: https://www.softwaretestinghelp.com/functional-testing/. – Дата доступа: 22.09.2025.</a:t>
            </a:r>
            <a:endParaRPr sz="1600">
              <a:solidFill>
                <a:srgbClr val="FFD96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FFD96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e" sz="1600">
                <a:solidFill>
                  <a:srgbClr val="FFD966"/>
                </a:solidFill>
              </a:rPr>
              <a:t>[2] Tproger: Функциональное тестирование [Электронный ресурс]. – Режим доступа: https://tproger.ru/articles/chto-takoe-funkcionalnoe-testirovanie-obyasnyayu-prostymi-slovami/. – Дата доступа: 22.09.2025.</a:t>
            </a:r>
            <a:endParaRPr sz="1600">
              <a:solidFill>
                <a:srgbClr val="FFD96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FFD96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e" sz="1600">
                <a:solidFill>
                  <a:srgbClr val="FFD966"/>
                </a:solidFill>
              </a:rPr>
              <a:t>[3] GeekBrains: Функциональное тестирование ПО [Электронный ресурс]. – Режим доступа: https://blog.geekbrains.ru/knowledge/functional-testing/. – Дата доступа: 22.09.2025.</a:t>
            </a:r>
            <a:endParaRPr sz="1600">
              <a:solidFill>
                <a:srgbClr val="FFD96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FFD96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e" sz="1600">
                <a:solidFill>
                  <a:srgbClr val="FFD966"/>
                </a:solidFill>
              </a:rPr>
              <a:t>[4] Habr: Виды тестирования программного обеспечения [Электронный ресурс]. – Режим доступа: https://habr.com/ru/companies/otus/articles/669614/. – Дата доступа: 22.09.2025.</a:t>
            </a:r>
            <a:endParaRPr sz="1600">
              <a:solidFill>
                <a:srgbClr val="FFD966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954</Words>
  <Application>Microsoft Office PowerPoint</Application>
  <PresentationFormat>Экран (16:9)</PresentationFormat>
  <Paragraphs>66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1" baseType="lpstr">
      <vt:lpstr>Arial</vt:lpstr>
      <vt:lpstr>Simple Dark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Lenovo</cp:lastModifiedBy>
  <cp:revision>1</cp:revision>
  <dcterms:modified xsi:type="dcterms:W3CDTF">2025-09-27T07:16:53Z</dcterms:modified>
</cp:coreProperties>
</file>