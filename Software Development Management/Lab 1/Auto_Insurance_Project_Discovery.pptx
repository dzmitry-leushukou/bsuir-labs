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Время: 0:40</a:t>
            </a:r>
          </a:p>
          <a:p>
            <a:endParaRPr/>
          </a:p>
          <a:p>
            <a:r>
              <a:t>Предлагаю начать проект клиентского портала с Discovery, то есть исследования потребностей и ограничений. Auto Insurance пока работает через Google-документы, а требования к порталу известны лишь в общих чертах. На первом этапе разберём текущую работу, проверим пользовательские сценарии и определим объём первой версии. Руководство получит материалы, на основе которых сможет решить, как продолжать проект.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Время: 1:00</a:t>
            </a:r>
          </a:p>
          <a:p>
            <a:endParaRPr/>
          </a:p>
          <a:p>
            <a:r>
              <a:t>Жизненный цикл программного продукта включает исследование, проектирование, разработку с проверкой, запуск и поддержку. Эти этапы могут повторяться по мере развития портала. Сейчас нам важно определить потребности и ограничения, чтобы затем обоснованно планировать реализацию. Из условия известно, что компания хранит и передаёт документы через Google-папку. Где именно возникают задержки и ручная работа, выясним в интервью. По итогам Discovery подготовим предварительную оценку с допущениями. Это ещё не фиксированная цена разработки.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Время: 0:55</a:t>
            </a:r>
          </a:p>
          <a:p>
            <a:endParaRPr/>
          </a:p>
          <a:p>
            <a:r>
              <a:t>Начнём с бизнес-задачи. Например, компания может стремиться сократить переписку или ускорить регистрацию заявления. Это примеры целей для обсуждения, а не установленные проблемы Auto Insurance. Для выбранной цели определим исходный показатель и ожидаемый результат. Затем уточним, что означает управление страховыми планами: просмотр условий, продление, смена покрытия или другие действия. Отдельно разберём обработку заявления сотрудниками, границы полномочий представителей и ограничения бюджета.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Время: 0:50</a:t>
            </a:r>
          </a:p>
          <a:p>
            <a:endParaRPr/>
          </a:p>
          <a:p>
            <a:r>
              <a:t>У Discovery должен быть один заказчик со стороны бизнеса, который вправе согласовывать приоритеты и объём работ. ПМ организует встречи и фиксирует решения. Аналитик описывает процессы и требования, дизайнер готовит прототип, технический специалист проверяет ограничения реализации. От компании понадобятся сотрудники, знающие реальные процессы, и представители всех трёх групп пользователей. На старте согласуем доступность участников. Еженедельно обсуждаем результаты, а открытые вопросы ведём с ответственными и сроками.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Время: 1:00</a:t>
            </a:r>
          </a:p>
          <a:p>
            <a:endParaRPr/>
          </a:p>
          <a:p>
            <a:r>
              <a:t>Предлагаю четыре частично пересекающиеся фазы. В первые дни согласуем цели и план, затем проведём интервью и изучим документы. На второй и третьей неделях подготовим простой кликабельный прототип и проверим ключевые задачи с пользователями. В завершение оценим объём первой версии, риски и затраты. Это план исследования, а не срок создания портала. Если участники недоступны или обнаружатся существенные вопросы по данным и правам, пересмотрим план вместе с заказчиком.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Время: 0:55</a:t>
            </a:r>
          </a:p>
          <a:p>
            <a:endParaRPr/>
          </a:p>
          <a:p>
            <a:r>
              <a:t>Интервью дадут разные взгляды на работу портала. Разбор конкретного обращения поможет проверить, совпадают ли описания участников с реальными действиями. Возьмём обезличенные примеры заявлений и полисов, изучим файлы и статусы в Google-папке. Технический специалист оценит возможность обмена с действующими системами, если такие системы есть. На прототипе проверим, может ли пользователь выполнить задачу без подсказки. Каждое требование свяжем с источником и понятным условием, по которому компания сможет принять результат разработки.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Время: 1:05</a:t>
            </a:r>
          </a:p>
          <a:p>
            <a:endParaRPr/>
          </a:p>
          <a:p>
            <a:r>
              <a:t>Здесь показан пример сценария, который проверим во время исследования. Частный клиент работает со своим полисом. Представитель юридического лица получает доступ в пределах роли в своей организации. Посредник действует только по тем клиентам, от которых у него есть подтверждённые полномочия. Способ подтверждения и отзыва этих полномочий ещё предстоит определить. После отправки заявления всем группам может понадобиться видеть статус, но состав статусов и уведомлений нужно согласовать. Отдельно проверим сценарии управления полисами и то, какие изменения пользователь вправе запросить или подтвердить самостоятельно.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Время: 0:55</a:t>
            </a:r>
          </a:p>
          <a:p>
            <a:endParaRPr/>
          </a:p>
          <a:p>
            <a:r>
              <a:t>В условии уже названы защищённый доступ для физических и юридических лиц и посредников, управление страховыми планами и регистрация страховых случаев. Эти потребности должны участвовать в определении первой версии. На Discovery уточним, какие конкретно действия они включают и сколько стоит их реализация. Например, изменение условий полиса может потребовать подтверждения сотрудником. Статусы, уведомления, миграция данных и интеграции пока остаются вопросами. Дополнительные функции, такие как массовые операции посредника, автоматизация выплат или отдельное мобильное приложение, оценим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Время: 0:55</a:t>
            </a:r>
          </a:p>
          <a:p>
            <a:endParaRPr/>
          </a:p>
          <a:p>
            <a:r>
              <a:t>Для каждого риска зафиксируем последствия, ответственного и способ проверки. Ошибка в разграничении прав может открыть клиенту или посреднику чужие документы. С юристом определим правила обработки персональных данных, а с техническим специалистом обсудим защиту доступа и журналирование. В Google-папке могут быть дубли и неполные сведения, поэтому заранее оценим качество данных и варианты переноса. Также выясним, кто будет поддерживать портал и что делать при сбое. Для существенных технических вопросов может потребоваться отдельная проверка осуществимости.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Время: 0:45</a:t>
            </a:r>
          </a:p>
          <a:p>
            <a:endParaRPr/>
          </a:p>
          <a:p>
            <a:r>
              <a:t>Discovery завершается управленческим решением. Компания получит согласованные цели, описание процессов и прав, прототип ключевых сценариев, объём первой версии и предварительную оценку. В оценке укажем диапазон, допущения и зависимости. Заказчик сможет разрешить следующий этап, поручить дополнительную проверку или отложить проект, если ожидаемая польза не оправдывает затрат. Для начала исследования нужно назначить владельца решения, обеспечить доступ к представителям компании и пользователей, предоставить документы и согласовать предложенный срок.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DE7DBA6-5E0A-4275-AEDF-89A03B0D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4732B27-D967-4166-94BD-EE548E880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683115-B8A6-4D60-BDA2-84B4AECD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F7EEF51-088C-4A7A-A1A1-7041CABA7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07A87B6-EBEE-411E-B1C1-155490E1E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0C56168-58A2-4261-8851-ACD0C7442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D2A5F82-F34E-4668-9ED9-C65BCE32D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FEA7F6D-2D9F-4B51-9439-990A0E75820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C5B6F28-0574-40A9-8195-9E1E90279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0D28E7A-1014-4044-B8FD-B03A50FD0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86C239E-6E6C-402E-902B-DF6E59096D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D5D716-1D80-4492-9BB0-13CBBDB05925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561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0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7E3DC"/>
                </a:solidFill>
                <a:latin typeface="Arial"/>
                <a:ea typeface="Arial"/>
                <a:cs typeface="Arial"/>
              </a:rPr>
              <a:t>ПРЕДВАРИТЕЛЬНОЕ ИССЛЕДОВАНИЕ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23681F-E057-4FFB-BCCB-90D043D5C7D6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6477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94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Клиентский портал</a:t>
            </a:r>
          </a:p>
          <a:p>
            <a:pPr>
              <a:lnSpc>
                <a:spcPct val="94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 Insurance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AB09DBE-F7CF-484B-8423-8C44F3EACF7E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581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>
                <a:solidFill>
                  <a:srgbClr val="C5D5E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650">
                <a:solidFill>
                  <a:srgbClr val="C9D7E5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C5D5E3"/>
                </a:solidFill>
                <a:latin typeface="Arial"/>
                <a:ea typeface="Arial"/>
                <a:cs typeface="Arial"/>
              </a:rPr>
              <a:t>План исследования перед разработкой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9C422FC-8653-42D3-B49C-61C8C76B7B46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5619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>
                <a:solidFill>
                  <a:srgbClr val="C5D5E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>
                <a:solidFill>
                  <a:srgbClr val="C9D7E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350">
                <a:solidFill>
                  <a:srgbClr val="C9D7E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C5D5E3"/>
                </a:solidFill>
                <a:latin typeface="Arial"/>
                <a:ea typeface="Arial"/>
                <a:cs typeface="Arial"/>
              </a:rPr>
              <a:t>Каким должен быть портал и с чего начать проект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A9823F1-B39C-45B7-B905-C7B2FD8F8995}"/>
              </a:ext>
            </a:extLst>
          </p:cNvPr>
          <p:cNvSpPr>
            <a:spLocks noGrp="1"/>
          </p:cNvSpPr>
          <p:nvPr/>
        </p:nvSpPr>
        <p:spPr>
          <a:xfrm>
            <a:off x="7410450" y="1409700"/>
            <a:ext cx="533400" cy="533400"/>
          </a:xfrm>
          <a:prstGeom prst="ellipse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DB1C07-953C-44D2-92C3-0BD07A69720E}"/>
              </a:ext>
            </a:extLst>
          </p:cNvPr>
          <p:cNvSpPr>
            <a:spLocks noGrp="1"/>
          </p:cNvSpPr>
          <p:nvPr/>
        </p:nvSpPr>
        <p:spPr>
          <a:xfrm>
            <a:off x="8267700" y="151447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Понять контекст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7BD47394-1C71-42F0-8E4C-B485A2B5FD90}"/>
              </a:ext>
            </a:extLst>
          </p:cNvPr>
          <p:cNvSpPr>
            <a:spLocks noGrp="1"/>
          </p:cNvSpPr>
          <p:nvPr/>
        </p:nvSpPr>
        <p:spPr>
          <a:xfrm>
            <a:off x="7410450" y="2324100"/>
            <a:ext cx="533400" cy="533400"/>
          </a:xfrm>
          <a:prstGeom prst="ellipse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3B2825-74CE-47C4-AE54-800B95C25C1B}"/>
              </a:ext>
            </a:extLst>
          </p:cNvPr>
          <p:cNvSpPr>
            <a:spLocks noGrp="1"/>
          </p:cNvSpPr>
          <p:nvPr/>
        </p:nvSpPr>
        <p:spPr>
          <a:xfrm>
            <a:off x="8267700" y="242887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Проверить сценарии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AB2158A-E1C7-4241-B47B-9980D105DCBA}"/>
              </a:ext>
            </a:extLst>
          </p:cNvPr>
          <p:cNvSpPr>
            <a:spLocks noGrp="1"/>
          </p:cNvSpPr>
          <p:nvPr/>
        </p:nvSpPr>
        <p:spPr>
          <a:xfrm>
            <a:off x="7410450" y="3238500"/>
            <a:ext cx="533400" cy="533400"/>
          </a:xfrm>
          <a:prstGeom prst="ellipse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834BDFE-B17B-43AF-B32B-3EAF896A4C2B}"/>
              </a:ext>
            </a:extLst>
          </p:cNvPr>
          <p:cNvSpPr>
            <a:spLocks noGrp="1"/>
          </p:cNvSpPr>
          <p:nvPr/>
        </p:nvSpPr>
        <p:spPr>
          <a:xfrm>
            <a:off x="8267700" y="334327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Определить объём портала</a:t>
            </a:r>
            <a:endParaRPr sz="157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EAC8E01D-A732-4D82-92F1-894F720000F0}"/>
              </a:ext>
            </a:extLst>
          </p:cNvPr>
          <p:cNvSpPr>
            <a:spLocks noGrp="1"/>
          </p:cNvSpPr>
          <p:nvPr/>
        </p:nvSpPr>
        <p:spPr>
          <a:xfrm>
            <a:off x="7410450" y="4152900"/>
            <a:ext cx="533400" cy="53340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D0628D2-831E-4F40-860D-8D24694CB3CA}"/>
              </a:ext>
            </a:extLst>
          </p:cNvPr>
          <p:cNvSpPr>
            <a:spLocks noGrp="1"/>
          </p:cNvSpPr>
          <p:nvPr/>
        </p:nvSpPr>
        <p:spPr>
          <a:xfrm>
            <a:off x="8267700" y="425767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Принять решение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7B9449A-8061-49B8-8169-5DA055B880DA}"/>
              </a:ext>
            </a:extLst>
          </p:cNvPr>
          <p:cNvSpPr>
            <a:spLocks noGrp="1"/>
          </p:cNvSpPr>
          <p:nvPr/>
        </p:nvSpPr>
        <p:spPr>
          <a:xfrm>
            <a:off x="781050" y="601980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>
                <a:solidFill>
                  <a:srgbClr val="B4C6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4C6D7"/>
                </a:solidFill>
                <a:latin typeface="Arial"/>
                <a:ea typeface="Arial"/>
                <a:cs typeface="Arial"/>
              </a:rPr>
              <a:t>Левшуков Дмитрий, ст. гр. 353504</a:t>
            </a:r>
          </a:p>
        </p:txBody>
      </p:sp>
    </p:spTree>
    <p:extLst>
      <p:ext uri="{BB962C8B-B14F-4D97-AF65-F5344CB8AC3E}">
        <p14:creationId xmlns:p14="http://schemas.microsoft.com/office/powerpoint/2010/main" val="186744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B742A04-8B40-469F-A17B-3AAFB569B39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01  ПЕРВЫЙ ЭТАП ПРОЕКТА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2849884-C799-4298-BA65-B526ADB72093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Зачем нужен Discovery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34927A6-A24E-410B-AF83-17D2135BBC22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10A13CF-5743-4321-9612-1108A98B12DD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4476750" cy="28194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676D8CCC-E860-4195-9008-6BA9C58051B2}"/>
              </a:ext>
            </a:extLst>
          </p:cNvPr>
          <p:cNvSpPr>
            <a:spLocks noGrp="1"/>
          </p:cNvSpPr>
          <p:nvPr/>
        </p:nvSpPr>
        <p:spPr>
          <a:xfrm>
            <a:off x="5391150" y="3333750"/>
            <a:ext cx="457200" cy="323850"/>
          </a:xfrm>
          <a:prstGeom prst="rightArrow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0E767569-B95B-41A0-A038-F436B08107C6}"/>
              </a:ext>
            </a:extLst>
          </p:cNvPr>
          <p:cNvSpPr>
            <a:spLocks noGrp="1"/>
          </p:cNvSpPr>
          <p:nvPr/>
        </p:nvSpPr>
        <p:spPr>
          <a:xfrm>
            <a:off x="6076950" y="2114550"/>
            <a:ext cx="5429250" cy="2819400"/>
          </a:xfrm>
          <a:prstGeom prst="roundRect">
            <a:avLst>
              <a:gd name="adj" fmla="val 3529"/>
            </a:avLst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</p:sp>
      <p:sp>
        <p:nv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D0F63621-D171-47E8-BC71-0AB260F747C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666C95B-4BFE-47B6-BDB0-4CD6A08EDF14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00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C93"/>
                </a:solidFill>
                <a:latin typeface="Arial"/>
                <a:ea typeface="Arial"/>
                <a:cs typeface="Arial"/>
              </a:rPr>
              <a:t>Auto Insurance   /   Discovery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60FD27CB-A181-4B44-B1E9-E20C7329012B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B7C9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0" name="slide-subtitle">
            <a:extLst>
              <a:ext uri="{FF2B5EF4-FFF2-40B4-BE49-F238E27FC236}">
                <a16:creationId xmlns:a16="http://schemas.microsoft.com/office/drawing/2014/main" id="{9D3AE899-DDC7-447A-AA9D-D404F9242E6E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Discovery: исследование потребностей и ограничений перед проектированием портала.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678FB6E-0560-4A75-9AAD-CC02D6A2FD69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Сейчас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A0EC641-AC9A-482A-A5D4-401398453E34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3905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Google-документы и общая папка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0EAF305-EEBD-498B-BA17-D8505FB0B7EB}"/>
              </a:ext>
            </a:extLst>
          </p:cNvPr>
          <p:cNvSpPr>
            <a:spLocks noGrp="1"/>
          </p:cNvSpPr>
          <p:nvPr/>
        </p:nvSpPr>
        <p:spPr>
          <a:xfrm>
            <a:off x="952500" y="3733800"/>
            <a:ext cx="3924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Данные и обмен файлами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Требования к порталу ещё неполные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BD5C835-4EA5-41B2-9BA2-B39D961F5887}"/>
              </a:ext>
            </a:extLst>
          </p:cNvPr>
          <p:cNvSpPr>
            <a:spLocks noGrp="1"/>
          </p:cNvSpPr>
          <p:nvPr/>
        </p:nvSpPr>
        <p:spPr>
          <a:xfrm>
            <a:off x="6362700" y="236220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После исследования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3D9B1E3-3A1B-4DE2-9AEF-2B6275DEC539}"/>
              </a:ext>
            </a:extLst>
          </p:cNvPr>
          <p:cNvSpPr>
            <a:spLocks noGrp="1"/>
          </p:cNvSpPr>
          <p:nvPr/>
        </p:nvSpPr>
        <p:spPr>
          <a:xfrm>
            <a:off x="6362700" y="2876550"/>
            <a:ext cx="4857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Основа для решения о проекте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F09CA2C-5A3E-43B2-A34C-2484174C4328}"/>
              </a:ext>
            </a:extLst>
          </p:cNvPr>
          <p:cNvSpPr>
            <a:spLocks noGrp="1"/>
          </p:cNvSpPr>
          <p:nvPr/>
        </p:nvSpPr>
        <p:spPr>
          <a:xfrm>
            <a:off x="6362700" y="3714750"/>
            <a:ext cx="4857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Цели и задачи пользователей</a:t>
            </a:r>
          </a:p>
          <a:p>
            <a: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Объём первой версии и ограничения</a:t>
            </a:r>
          </a:p>
          <a:p>
            <a: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Предварительные сроки и затраты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6E4EA6D-CF85-4F93-B7C5-3FAFFD83051C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Место Discovery в жизненном цикле проекта</a:t>
            </a:r>
          </a:p>
        </p:txBody>
      </p:sp>
      <p:sp>
        <p:nvSpPr>
          <p:cNvPr id="38" name="lifecycle-stage">
            <a:extLst>
              <a:ext uri="{FF2B5EF4-FFF2-40B4-BE49-F238E27FC236}">
                <a16:creationId xmlns:a16="http://schemas.microsoft.com/office/drawing/2014/main" id="{F09F508A-37EE-4277-8F05-0767F2E3BE0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2238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39" name="lifecycle-stage">
            <a:extLst>
              <a:ext uri="{FF2B5EF4-FFF2-40B4-BE49-F238E27FC236}">
                <a16:creationId xmlns:a16="http://schemas.microsoft.com/office/drawing/2014/main" id="{B3AAFEFE-5625-446D-A1ED-4491020299DE}"/>
              </a:ext>
            </a:extLst>
          </p:cNvPr>
          <p:cNvSpPr>
            <a:spLocks noGrp="1"/>
          </p:cNvSpPr>
          <p:nvPr/>
        </p:nvSpPr>
        <p:spPr>
          <a:xfrm>
            <a:off x="3400955" y="5761567"/>
            <a:ext cx="2238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486581"/>
                </a:solidFill>
                <a:latin typeface="Arial"/>
                <a:ea typeface="Arial"/>
                <a:cs typeface="Arial"/>
              </a:rPr>
              <a:t>Проектирование</a:t>
            </a:r>
            <a:endParaRPr sz="1650" b="0" dirty="0">
              <a:solidFill>
                <a:srgbClr val="4865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lifecycle-stage">
            <a:extLst>
              <a:ext uri="{FF2B5EF4-FFF2-40B4-BE49-F238E27FC236}">
                <a16:creationId xmlns:a16="http://schemas.microsoft.com/office/drawing/2014/main" id="{3A281FEE-C5EC-4E9F-B72D-06CB71BA300E}"/>
              </a:ext>
            </a:extLst>
          </p:cNvPr>
          <p:cNvSpPr>
            <a:spLocks noGrp="1"/>
          </p:cNvSpPr>
          <p:nvPr/>
        </p:nvSpPr>
        <p:spPr>
          <a:xfrm>
            <a:off x="6210300" y="5676900"/>
            <a:ext cx="2238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Разработка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и проверка</a:t>
            </a:r>
          </a:p>
        </p:txBody>
      </p:sp>
      <p:sp>
        <p:nvSpPr>
          <p:cNvPr id="41" name="lifecycle-stage">
            <a:extLst>
              <a:ext uri="{FF2B5EF4-FFF2-40B4-BE49-F238E27FC236}">
                <a16:creationId xmlns:a16="http://schemas.microsoft.com/office/drawing/2014/main" id="{28611770-3FBD-479E-8060-288A8B98A81B}"/>
              </a:ext>
            </a:extLst>
          </p:cNvPr>
          <p:cNvSpPr>
            <a:spLocks noGrp="1"/>
          </p:cNvSpPr>
          <p:nvPr/>
        </p:nvSpPr>
        <p:spPr>
          <a:xfrm>
            <a:off x="8972550" y="5676900"/>
            <a:ext cx="2238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Запуск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и поддержка</a:t>
            </a:r>
          </a:p>
        </p:txBody>
      </p:sp>
      <p:sp>
        <p:nvSpPr>
          <p:cNvPr id="42" name="lifecycle-arrow-1">
            <a:extLst>
              <a:ext uri="{FF2B5EF4-FFF2-40B4-BE49-F238E27FC236}">
                <a16:creationId xmlns:a16="http://schemas.microsoft.com/office/drawing/2014/main" id="{53719024-023B-479E-8B88-72214250D84F}"/>
              </a:ext>
            </a:extLst>
          </p:cNvPr>
          <p:cNvSpPr>
            <a:spLocks noGrp="1"/>
          </p:cNvSpPr>
          <p:nvPr/>
        </p:nvSpPr>
        <p:spPr>
          <a:xfrm>
            <a:off x="2895600" y="5753100"/>
            <a:ext cx="457200" cy="323850"/>
          </a:xfrm>
          <a:prstGeom prst="rightArrow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43" name="lifecycle-arrow-2">
            <a:extLst>
              <a:ext uri="{FF2B5EF4-FFF2-40B4-BE49-F238E27FC236}">
                <a16:creationId xmlns:a16="http://schemas.microsoft.com/office/drawing/2014/main" id="{8293FB06-89BB-4A11-B13B-1B3F6BA1DD6E}"/>
              </a:ext>
            </a:extLst>
          </p:cNvPr>
          <p:cNvSpPr>
            <a:spLocks noGrp="1"/>
          </p:cNvSpPr>
          <p:nvPr/>
        </p:nvSpPr>
        <p:spPr>
          <a:xfrm>
            <a:off x="5657850" y="5753100"/>
            <a:ext cx="457200" cy="323850"/>
          </a:xfrm>
          <a:prstGeom prst="rightArrow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44" name="lifecycle-arrow-3">
            <a:extLst>
              <a:ext uri="{FF2B5EF4-FFF2-40B4-BE49-F238E27FC236}">
                <a16:creationId xmlns:a16="http://schemas.microsoft.com/office/drawing/2014/main" id="{4AE10404-20CE-4EE0-B988-0AC1CBDA4FD5}"/>
              </a:ext>
            </a:extLst>
          </p:cNvPr>
          <p:cNvSpPr>
            <a:spLocks noGrp="1"/>
          </p:cNvSpPr>
          <p:nvPr/>
        </p:nvSpPr>
        <p:spPr>
          <a:xfrm>
            <a:off x="8420100" y="5753100"/>
            <a:ext cx="457200" cy="323850"/>
          </a:xfrm>
          <a:prstGeom prst="rightArrow">
            <a:avLst/>
          </a:prstGeom>
          <a:solidFill>
            <a:srgbClr val="00A6A6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1182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6F256A62-5D45-4DF4-ABEB-360AAD5FF75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02  РАМКИ ИССЛЕДОВАНИЯ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C5E4D11-0FD4-4963-A083-F10BF7DD7D1D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Вопросы, которые определяют объём проекта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F1112792-1F51-417F-91D4-3FB5891E1779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3D182707-E4BA-468B-BEA4-267501A826A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788F1470-A4FD-49C1-9F8E-4FF6B8416D4A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00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C93"/>
                </a:solidFill>
                <a:latin typeface="Arial"/>
                <a:ea typeface="Arial"/>
                <a:cs typeface="Arial"/>
              </a:rPr>
              <a:t>Auto Insurance   /   Discovery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21C69992-5819-46B5-A7F8-D56A2AED8CD2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B7C9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5" name="slide-subtitle">
            <a:extLst>
              <a:ext uri="{FF2B5EF4-FFF2-40B4-BE49-F238E27FC236}">
                <a16:creationId xmlns:a16="http://schemas.microsoft.com/office/drawing/2014/main" id="{DF75B25B-76B8-4BB7-8C84-79AD563BAAA3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Ответы помогут выбрать первую версию и определить, по каким показателям оценивать её пользу.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CF3D3431-D814-426F-B45F-02B049040064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Бизнес</a:t>
            </a: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118539D2-BD51-4F20-B596-A343B8BF764D}"/>
              </a:ext>
            </a:extLst>
          </p:cNvPr>
          <p:cNvSpPr>
            <a:spLocks noGrp="1"/>
          </p:cNvSpPr>
          <p:nvPr/>
        </p:nvSpPr>
        <p:spPr>
          <a:xfrm>
            <a:off x="3714750" y="2152650"/>
            <a:ext cx="779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Какую проблему решаем первой?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По какому показателю оценим результат?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01CA8490-B967-4B15-9398-8D7F22420DA9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Пользователи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C53CFA9-85C7-43E6-8328-2D5DA6096A18}"/>
              </a:ext>
            </a:extLst>
          </p:cNvPr>
          <p:cNvSpPr>
            <a:spLocks noGrp="1"/>
          </p:cNvSpPr>
          <p:nvPr/>
        </p:nvSpPr>
        <p:spPr>
          <a:xfrm>
            <a:off x="3714750" y="2914650"/>
            <a:ext cx="779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Кто работает от своего имени, от организации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или от имени клиента посредника?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FF06AD43-94D9-4843-B186-86A0105E6970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Полисы и обращения</a:t>
            </a:r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4A7F05E0-AAB2-484D-8F38-0F1590AC0F04}"/>
              </a:ext>
            </a:extLst>
          </p:cNvPr>
          <p:cNvSpPr>
            <a:spLocks noGrp="1"/>
          </p:cNvSpPr>
          <p:nvPr/>
        </p:nvSpPr>
        <p:spPr>
          <a:xfrm>
            <a:off x="3714750" y="3676650"/>
            <a:ext cx="779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Какие действия с полисом нужны онлайн?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Как клиент сообщает о страховом случае?</a:t>
            </a: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99F6600A-6261-41EE-8F22-5D8F855EF978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Работа сотрудников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F2D14A99-0F0B-48C3-8217-6BA0D7ACD44C}"/>
              </a:ext>
            </a:extLst>
          </p:cNvPr>
          <p:cNvSpPr>
            <a:spLocks noGrp="1"/>
          </p:cNvSpPr>
          <p:nvPr/>
        </p:nvSpPr>
        <p:spPr>
          <a:xfrm>
            <a:off x="3714750" y="4438650"/>
            <a:ext cx="779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Кто проверяет заявление и принимает решение?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Какие шаги останутся у сотрудников?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11CD3441-7672-42A7-9C18-93C6E6271546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759CE6BE-5739-4A6F-9F34-64F647F590B1}"/>
              </a:ext>
            </a:extLst>
          </p:cNvPr>
          <p:cNvSpPr>
            <a:spLocks noGrp="1"/>
          </p:cNvSpPr>
          <p:nvPr/>
        </p:nvSpPr>
        <p:spPr>
          <a:xfrm>
            <a:off x="3714750" y="5200650"/>
            <a:ext cx="779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Какие данные, системы и правила влияют на проект?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Каковы доступный бюджет и желаемый срок?</a:t>
            </a:r>
          </a:p>
        </p:txBody>
      </p:sp>
    </p:spTree>
    <p:extLst>
      <p:ext uri="{BB962C8B-B14F-4D97-AF65-F5344CB8AC3E}">
        <p14:creationId xmlns:p14="http://schemas.microsoft.com/office/powerpoint/2010/main" val="239282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26F5F281-CA91-4016-B5A9-1A47E279C70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03  УЧАСТНИКИ И РЕШЕНИЯ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CFCB47B-EC02-42FC-8833-9FCE315EEDD8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Участники и правила работы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CCC1BAED-3E5B-49D5-8592-FB238E67E51D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A0986072-36D9-44AE-94DD-07DED313813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AB12004F-D307-4421-9BC2-D87C8258E1DE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00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C93"/>
                </a:solidFill>
                <a:latin typeface="Arial"/>
                <a:ea typeface="Arial"/>
                <a:cs typeface="Arial"/>
              </a:rPr>
              <a:t>Auto Insurance   /   Discovery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D1FF830-B627-4D63-A664-4DDCFFF24A4B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B7C9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9" name="slide-subtitle">
            <a:extLst>
              <a:ext uri="{FF2B5EF4-FFF2-40B4-BE49-F238E27FC236}">
                <a16:creationId xmlns:a16="http://schemas.microsoft.com/office/drawing/2014/main" id="{A3097667-9F41-4F9B-AFDA-C65185672F74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Руководство назначает заказчика проекта и обеспечивает доступ к участникам и документам.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69FFC12E-2206-4D05-A19E-F9ACBE4A5208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59245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Заказчик со стороны бизнеса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3A5DF86F-C72A-4B83-B25C-A51F609D98A7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5924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Согласует цели, приоритеты и следующий этап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43683CB-D3E0-41A3-A847-C740EE5BA20C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59245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Сотрудники Auto Insurance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14E80C1E-E5B7-4848-A7F5-38136CCC60C1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5924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Продажи, обслуживание, урегулирование убытков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8BED634B-201C-48BA-9797-ED547D40AAA2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59245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Представители пользователей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083DC38C-E43C-492C-8A1F-2317DEED2D76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5924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Частные клиенты, организации и посредники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4DDCE090-50BB-4159-8738-3E3166BCDDE9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59245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Юрист и ответственный за данные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648E286-515F-40F7-BD34-A198C394E4E1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5924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Полномочия, персональные данные, хранение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7D8669BE-4AA4-4CD1-9F71-EFB8A5C5ABB7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59245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Команда проекта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DEB22A91-723E-49E5-9C1E-F35F57703110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5924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ПМ, аналитик, дизайнер, технический специалист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B44EF7C7-0850-4D90-AD6A-DB8F1E3E0F76}"/>
              </a:ext>
            </a:extLst>
          </p:cNvPr>
          <p:cNvSpPr>
            <a:spLocks noGrp="1"/>
          </p:cNvSpPr>
          <p:nvPr/>
        </p:nvSpPr>
        <p:spPr>
          <a:xfrm>
            <a:off x="7239000" y="2152650"/>
            <a:ext cx="426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 работаем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77E65B7F-EDB2-47C4-922A-2DBE03B92F47}"/>
              </a:ext>
            </a:extLst>
          </p:cNvPr>
          <p:cNvSpPr>
            <a:spLocks noGrp="1"/>
          </p:cNvSpPr>
          <p:nvPr/>
        </p:nvSpPr>
        <p:spPr>
          <a:xfrm>
            <a:off x="7239000" y="2762250"/>
            <a:ext cx="426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Раз в неделю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32043939-90BE-4EF5-93BE-6E2B7379B9C4}"/>
              </a:ext>
            </a:extLst>
          </p:cNvPr>
          <p:cNvSpPr>
            <a:spLocks noGrp="1"/>
          </p:cNvSpPr>
          <p:nvPr/>
        </p:nvSpPr>
        <p:spPr>
          <a:xfrm>
            <a:off x="7239000" y="3086100"/>
            <a:ext cx="4267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Обсуждаем выводы и согласуем приоритеты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A1476268-500C-41ED-99A9-D25D4F2407E8}"/>
              </a:ext>
            </a:extLst>
          </p:cNvPr>
          <p:cNvSpPr>
            <a:spLocks noGrp="1"/>
          </p:cNvSpPr>
          <p:nvPr/>
        </p:nvSpPr>
        <p:spPr>
          <a:xfrm>
            <a:off x="7239000" y="3829050"/>
            <a:ext cx="426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По спорным вопросам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3DBADAF7-53DD-4DD4-85BA-0A2098BD88F1}"/>
              </a:ext>
            </a:extLst>
          </p:cNvPr>
          <p:cNvSpPr>
            <a:spLocks noGrp="1"/>
          </p:cNvSpPr>
          <p:nvPr/>
        </p:nvSpPr>
        <p:spPr>
          <a:xfrm>
            <a:off x="7239000" y="4152900"/>
            <a:ext cx="4267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Назначаем ответственного и срок ответа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EA76EB3A-C1BA-4A25-91A0-CB4FE6EA6B56}"/>
              </a:ext>
            </a:extLst>
          </p:cNvPr>
          <p:cNvSpPr>
            <a:spLocks noGrp="1"/>
          </p:cNvSpPr>
          <p:nvPr/>
        </p:nvSpPr>
        <p:spPr>
          <a:xfrm>
            <a:off x="7239000" y="4895850"/>
            <a:ext cx="426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В Google Docs и Sheets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233B0197-C47C-46F3-8B53-07197DE98A6C}"/>
              </a:ext>
            </a:extLst>
          </p:cNvPr>
          <p:cNvSpPr>
            <a:spLocks noGrp="1"/>
          </p:cNvSpPr>
          <p:nvPr/>
        </p:nvSpPr>
        <p:spPr>
          <a:xfrm>
            <a:off x="7239000" y="5219700"/>
            <a:ext cx="4267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ПМ ведёт требования, открытые вопросы и журнал решений</a:t>
            </a:r>
          </a:p>
        </p:txBody>
      </p:sp>
    </p:spTree>
    <p:extLst>
      <p:ext uri="{BB962C8B-B14F-4D97-AF65-F5344CB8AC3E}">
        <p14:creationId xmlns:p14="http://schemas.microsoft.com/office/powerpoint/2010/main" val="1310938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8820A668-CC32-4B1D-B55E-2EFBFD49F20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04  ПЛАН И КОНТРОЛЬНЫЕ ТОЧКИ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3E9E31C-D449-4FF7-A062-8975893FC425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План Discovery на 3–4 недели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22008BE-7D9C-4910-90C5-E20DF035794A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8220A726-A5DE-4AE4-8210-178DD79AC04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B3B631B-1FBB-4E31-B8E5-F839F9FE9128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00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C93"/>
                </a:solidFill>
                <a:latin typeface="Arial"/>
                <a:ea typeface="Arial"/>
                <a:cs typeface="Arial"/>
              </a:rPr>
              <a:t>Auto Insurance   /   Discovery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099B3047-5649-4453-A710-81965505CFDD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B7C9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slide-subtitle">
            <a:extLst>
              <a:ext uri="{FF2B5EF4-FFF2-40B4-BE49-F238E27FC236}">
                <a16:creationId xmlns:a16="http://schemas.microsoft.com/office/drawing/2014/main" id="{F9243D47-22CD-4403-84D7-1E647F7EAE75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Предлагаемый срок при доступности участников и документов. Точный план согласуем на старте.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4DA5CB1-64B4-4FD5-9085-E6D1F90A3D75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Дни 1–3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E84F210D-FEBE-41AB-877C-B5B3F8A2B63D}"/>
              </a:ext>
            </a:extLst>
          </p:cNvPr>
          <p:cNvSpPr>
            <a:spLocks noGrp="1"/>
          </p:cNvSpPr>
          <p:nvPr/>
        </p:nvSpPr>
        <p:spPr>
          <a:xfrm>
            <a:off x="685800" y="2752725"/>
            <a:ext cx="2133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430FAB7F-2AF9-4399-8640-7622A2E6DE51}"/>
              </a:ext>
            </a:extLst>
          </p:cNvPr>
          <p:cNvSpPr>
            <a:spLocks noGrp="1"/>
          </p:cNvSpPr>
          <p:nvPr/>
        </p:nvSpPr>
        <p:spPr>
          <a:xfrm>
            <a:off x="685800" y="3381375"/>
            <a:ext cx="23241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Цели бизнеса,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участники и вопросы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для проверки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237A889-A43F-47CE-970A-D8F3033E1AAE}"/>
              </a:ext>
            </a:extLst>
          </p:cNvPr>
          <p:cNvSpPr>
            <a:spLocks noGrp="1"/>
          </p:cNvSpPr>
          <p:nvPr/>
        </p:nvSpPr>
        <p:spPr>
          <a:xfrm>
            <a:off x="685800" y="4676775"/>
            <a:ext cx="232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Итог: согласованный</a:t>
            </a:r>
          </a:p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план исследования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0611A138-868B-416E-BFB9-C727371B3E9A}"/>
              </a:ext>
            </a:extLst>
          </p:cNvPr>
          <p:cNvSpPr>
            <a:spLocks noGrp="1"/>
          </p:cNvSpPr>
          <p:nvPr/>
        </p:nvSpPr>
        <p:spPr>
          <a:xfrm>
            <a:off x="3448050" y="22669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Недели 1–2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C7CAF21-6149-456A-A008-F010DA53E2BD}"/>
              </a:ext>
            </a:extLst>
          </p:cNvPr>
          <p:cNvSpPr>
            <a:spLocks noGrp="1"/>
          </p:cNvSpPr>
          <p:nvPr/>
        </p:nvSpPr>
        <p:spPr>
          <a:xfrm>
            <a:off x="3448050" y="2752725"/>
            <a:ext cx="2133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Исследование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194B1E85-006F-44C2-9067-945CA031E225}"/>
              </a:ext>
            </a:extLst>
          </p:cNvPr>
          <p:cNvSpPr>
            <a:spLocks noGrp="1"/>
          </p:cNvSpPr>
          <p:nvPr/>
        </p:nvSpPr>
        <p:spPr>
          <a:xfrm>
            <a:off x="3448050" y="3381375"/>
            <a:ext cx="23241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Интервью и разбор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рабочих процессов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и документов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72916EBB-AB9D-4FA2-8ADB-65B0AF1AA3C5}"/>
              </a:ext>
            </a:extLst>
          </p:cNvPr>
          <p:cNvSpPr>
            <a:spLocks noGrp="1"/>
          </p:cNvSpPr>
          <p:nvPr/>
        </p:nvSpPr>
        <p:spPr>
          <a:xfrm>
            <a:off x="3448050" y="4676775"/>
            <a:ext cx="232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Итог: описание</a:t>
            </a:r>
          </a:p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процессов и проблем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4A9AD9B7-1006-4124-A6BC-968FBF516516}"/>
              </a:ext>
            </a:extLst>
          </p:cNvPr>
          <p:cNvSpPr>
            <a:spLocks noGrp="1"/>
          </p:cNvSpPr>
          <p:nvPr/>
        </p:nvSpPr>
        <p:spPr>
          <a:xfrm>
            <a:off x="6210300" y="22669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Недели 2–3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B7CB8B5D-60CC-4413-A0B7-69FF4B323D1E}"/>
              </a:ext>
            </a:extLst>
          </p:cNvPr>
          <p:cNvSpPr>
            <a:spLocks noGrp="1"/>
          </p:cNvSpPr>
          <p:nvPr/>
        </p:nvSpPr>
        <p:spPr>
          <a:xfrm>
            <a:off x="6210300" y="2752725"/>
            <a:ext cx="2133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Прототип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B5D4FD90-CA4C-4258-A1B8-C850D609F269}"/>
              </a:ext>
            </a:extLst>
          </p:cNvPr>
          <p:cNvSpPr>
            <a:spLocks noGrp="1"/>
          </p:cNvSpPr>
          <p:nvPr/>
        </p:nvSpPr>
        <p:spPr>
          <a:xfrm>
            <a:off x="6210300" y="3381375"/>
            <a:ext cx="23241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Сценарии портала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и проверка экранов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с пользователями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DCE7665A-8A4F-48CC-B912-47CA222B4AE8}"/>
              </a:ext>
            </a:extLst>
          </p:cNvPr>
          <p:cNvSpPr>
            <a:spLocks noGrp="1"/>
          </p:cNvSpPr>
          <p:nvPr/>
        </p:nvSpPr>
        <p:spPr>
          <a:xfrm>
            <a:off x="6210300" y="4676775"/>
            <a:ext cx="232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Итог: уточнённые</a:t>
            </a:r>
          </a:p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требования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540E5D59-FFE3-4D53-A24E-6D9AB119E72F}"/>
              </a:ext>
            </a:extLst>
          </p:cNvPr>
          <p:cNvSpPr>
            <a:spLocks noGrp="1"/>
          </p:cNvSpPr>
          <p:nvPr/>
        </p:nvSpPr>
        <p:spPr>
          <a:xfrm>
            <a:off x="8972550" y="22669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Недели 3–4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E3D7F783-E3C5-4E5C-89D8-3C994CF0BF62}"/>
              </a:ext>
            </a:extLst>
          </p:cNvPr>
          <p:cNvSpPr>
            <a:spLocks noGrp="1"/>
          </p:cNvSpPr>
          <p:nvPr/>
        </p:nvSpPr>
        <p:spPr>
          <a:xfrm>
            <a:off x="8972550" y="2752725"/>
            <a:ext cx="2133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2B89E488-D13A-424C-A621-2AF4E210FD28}"/>
              </a:ext>
            </a:extLst>
          </p:cNvPr>
          <p:cNvSpPr>
            <a:spLocks noGrp="1"/>
          </p:cNvSpPr>
          <p:nvPr/>
        </p:nvSpPr>
        <p:spPr>
          <a:xfrm>
            <a:off x="8972550" y="3381375"/>
            <a:ext cx="23241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Объём первой версии,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риски, сроки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и затраты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09A91C78-5293-4576-B4DD-5EDC807A2BB6}"/>
              </a:ext>
            </a:extLst>
          </p:cNvPr>
          <p:cNvSpPr>
            <a:spLocks noGrp="1"/>
          </p:cNvSpPr>
          <p:nvPr/>
        </p:nvSpPr>
        <p:spPr>
          <a:xfrm>
            <a:off x="8972550" y="4676775"/>
            <a:ext cx="2324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Итог: решение</a:t>
            </a:r>
          </a:p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 следующем этапе</a:t>
            </a:r>
          </a:p>
        </p:txBody>
      </p:sp>
      <p:sp>
        <p:nvSpPr>
          <p:cNvPr id="52" name="discovery-arrow-1">
            <a:extLst>
              <a:ext uri="{FF2B5EF4-FFF2-40B4-BE49-F238E27FC236}">
                <a16:creationId xmlns:a16="http://schemas.microsoft.com/office/drawing/2014/main" id="{674EB3DF-FDDD-4669-860B-5A5D73D955AB}"/>
              </a:ext>
            </a:extLst>
          </p:cNvPr>
          <p:cNvSpPr>
            <a:spLocks noGrp="1"/>
          </p:cNvSpPr>
          <p:nvPr/>
        </p:nvSpPr>
        <p:spPr>
          <a:xfrm>
            <a:off x="2895600" y="2724150"/>
            <a:ext cx="457200" cy="323850"/>
          </a:xfrm>
          <a:prstGeom prst="rightArrow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53" name="discovery-arrow-2">
            <a:extLst>
              <a:ext uri="{FF2B5EF4-FFF2-40B4-BE49-F238E27FC236}">
                <a16:creationId xmlns:a16="http://schemas.microsoft.com/office/drawing/2014/main" id="{F1AEB79F-183C-40C4-970D-A6A5F04AD4D4}"/>
              </a:ext>
            </a:extLst>
          </p:cNvPr>
          <p:cNvSpPr>
            <a:spLocks noGrp="1"/>
          </p:cNvSpPr>
          <p:nvPr/>
        </p:nvSpPr>
        <p:spPr>
          <a:xfrm>
            <a:off x="5657850" y="2724150"/>
            <a:ext cx="457200" cy="323850"/>
          </a:xfrm>
          <a:prstGeom prst="rightArrow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54" name="discovery-arrow-3">
            <a:extLst>
              <a:ext uri="{FF2B5EF4-FFF2-40B4-BE49-F238E27FC236}">
                <a16:creationId xmlns:a16="http://schemas.microsoft.com/office/drawing/2014/main" id="{7ABE0F18-53BC-42F2-82F5-1A03CE057DBB}"/>
              </a:ext>
            </a:extLst>
          </p:cNvPr>
          <p:cNvSpPr>
            <a:spLocks noGrp="1"/>
          </p:cNvSpPr>
          <p:nvPr/>
        </p:nvSpPr>
        <p:spPr>
          <a:xfrm>
            <a:off x="8420100" y="2724150"/>
            <a:ext cx="457200" cy="323850"/>
          </a:xfrm>
          <a:prstGeom prst="rightArrow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F9DD5960-5C9D-4882-80D4-975F3813AD16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После каждой фазы согласуем выводы. Новые вопросы могут изменить план следующей фазы.</a:t>
            </a:r>
          </a:p>
        </p:txBody>
      </p:sp>
    </p:spTree>
    <p:extLst>
      <p:ext uri="{BB962C8B-B14F-4D97-AF65-F5344CB8AC3E}">
        <p14:creationId xmlns:p14="http://schemas.microsoft.com/office/powerpoint/2010/main" val="644086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622008F-5CEA-4776-A7B1-8181FCC2B99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05  ПРОВЕРКА ТРЕБОВАНИЙ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9BDDCE1-4DF6-4B57-BEBB-4C4BAB5EDF92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Методы исследования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17C4EB6-A242-46D9-A552-43AC9A505A9E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AFCEBFF8-01EE-4FB9-BCB5-D8CF6BC8EB03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CD342EC-5FEB-4310-AEF5-1B2CE2CC78D2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00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C93"/>
                </a:solidFill>
                <a:latin typeface="Arial"/>
                <a:ea typeface="Arial"/>
                <a:cs typeface="Arial"/>
              </a:rPr>
              <a:t>Auto Insurance   /   Discovery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1455ACD-3A8C-4CDF-ACB7-C0E371837D7C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B7C9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slide-subtitle">
            <a:extLst>
              <a:ext uri="{FF2B5EF4-FFF2-40B4-BE49-F238E27FC236}">
                <a16:creationId xmlns:a16="http://schemas.microsoft.com/office/drawing/2014/main" id="{59A703C3-740C-4D57-B02D-E92C0676E605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Сопоставим ответы участников с документами и реальной работой.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4B94495-2465-454C-BDAF-69786ECA85B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3286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Интервью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1388DA3-7E5F-40F3-B828-05DF07372C15}"/>
              </a:ext>
            </a:extLst>
          </p:cNvPr>
          <p:cNvSpPr>
            <a:spLocks noGrp="1"/>
          </p:cNvSpPr>
          <p:nvPr/>
        </p:nvSpPr>
        <p:spPr>
          <a:xfrm>
            <a:off x="4333875" y="2209800"/>
            <a:ext cx="71723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Выясним, как сотрудники и клиенты работают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с полисами и обращениями, что вызывает затруднения.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79FAF54-CCA4-4692-B981-2C29F2E0E64F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3286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Разбор реального обращения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8D15CDE8-6CA1-45CB-B977-2AE54039F65C}"/>
              </a:ext>
            </a:extLst>
          </p:cNvPr>
          <p:cNvSpPr>
            <a:spLocks noGrp="1"/>
          </p:cNvSpPr>
          <p:nvPr/>
        </p:nvSpPr>
        <p:spPr>
          <a:xfrm>
            <a:off x="4333875" y="3086100"/>
            <a:ext cx="71723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Пройдём путь от заявления до ответа клиенту.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Найдём ручные шаги и повторный ввод данных.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55034E5-F333-4904-A04A-31A30079A392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3286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Документы и ограничения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4AA7305-EF23-45FF-9F09-D1FA3AB9B645}"/>
              </a:ext>
            </a:extLst>
          </p:cNvPr>
          <p:cNvSpPr>
            <a:spLocks noGrp="1"/>
          </p:cNvSpPr>
          <p:nvPr/>
        </p:nvSpPr>
        <p:spPr>
          <a:xfrm>
            <a:off x="4333875" y="3962400"/>
            <a:ext cx="71723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Изучим Google-документы, качество данных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и возможность обмена с другими системами.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B8DF5F54-0388-447D-9BCE-AA9589C32686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3286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Проверка прототипа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C317A0D6-D6E8-449B-9019-1EAAF26BA62E}"/>
              </a:ext>
            </a:extLst>
          </p:cNvPr>
          <p:cNvSpPr>
            <a:spLocks noGrp="1"/>
          </p:cNvSpPr>
          <p:nvPr/>
        </p:nvSpPr>
        <p:spPr>
          <a:xfrm>
            <a:off x="4333875" y="4838700"/>
            <a:ext cx="71723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Представители трёх групп выполнят ключевые задачи.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Учтём ошибки и затруднения при работе с экранами.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1DED72B0-855F-414F-8837-834E45D9B632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У каждого требования будут источник, приоритет и критерий приёмки.</a:t>
            </a:r>
          </a:p>
        </p:txBody>
      </p:sp>
    </p:spTree>
    <p:extLst>
      <p:ext uri="{BB962C8B-B14F-4D97-AF65-F5344CB8AC3E}">
        <p14:creationId xmlns:p14="http://schemas.microsoft.com/office/powerpoint/2010/main" val="1862390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B2A538FB-DA73-4CB2-B176-A6DBE65E62E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06  ПОЛЬЗОВАТЕЛИ ПОРТАЛА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15B0C5E-3088-4A97-88D3-E1EF0BEE0327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Пользователи и права доступа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84DED8E-B0D2-4D8A-9653-6A7F1AB9AAA9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17547F53-7ED4-464B-A0C7-DD7038C4E421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B4F9385C-106C-4CFB-9187-09EC3708F0EB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00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C93"/>
                </a:solidFill>
                <a:latin typeface="Arial"/>
                <a:ea typeface="Arial"/>
                <a:cs typeface="Arial"/>
              </a:rPr>
              <a:t>Auto Insurance   /   Discovery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F50C8553-85B1-4D67-A615-47ECA805C6EC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B7C9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3" name="slide-subtitle">
            <a:extLst>
              <a:ext uri="{FF2B5EF4-FFF2-40B4-BE49-F238E27FC236}">
                <a16:creationId xmlns:a16="http://schemas.microsoft.com/office/drawing/2014/main" id="{28B414D6-AAF1-4E93-8B64-9E0DB36297B5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Пример для проверки: регистрация страхового случая с учётом роли пользователя.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89803F1C-325B-4E8B-999F-8ED32E52B4D0}"/>
              </a:ext>
            </a:extLst>
          </p:cNvPr>
          <p:cNvSpPr>
            <a:spLocks noGrp="1"/>
          </p:cNvSpPr>
          <p:nvPr/>
        </p:nvSpPr>
        <p:spPr>
          <a:xfrm>
            <a:off x="2876550" y="2152650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Защищённый вход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F6252FAC-77D7-4375-8F6C-D99D9F0445B5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Доступ к полису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A9637461-D573-40B6-AE55-A5ABE2300BE2}"/>
              </a:ext>
            </a:extLst>
          </p:cNvPr>
          <p:cNvSpPr>
            <a:spLocks noGrp="1"/>
          </p:cNvSpPr>
          <p:nvPr/>
        </p:nvSpPr>
        <p:spPr>
          <a:xfrm>
            <a:off x="9029700" y="21526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Подача заявления</a:t>
            </a: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FF351497-5914-495F-9506-F2F991C8073C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2076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Частный клиент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38214466-F6F1-4C87-A9BA-CBF542206991}"/>
              </a:ext>
            </a:extLst>
          </p:cNvPr>
          <p:cNvSpPr>
            <a:spLocks noGrp="1"/>
          </p:cNvSpPr>
          <p:nvPr/>
        </p:nvSpPr>
        <p:spPr>
          <a:xfrm>
            <a:off x="2876550" y="2743200"/>
            <a:ext cx="2305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Подтвердить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свою личность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7667B1C0-84C7-4617-B8AE-71F079C77325}"/>
              </a:ext>
            </a:extLst>
          </p:cNvPr>
          <p:cNvSpPr>
            <a:spLocks noGrp="1"/>
          </p:cNvSpPr>
          <p:nvPr/>
        </p:nvSpPr>
        <p:spPr>
          <a:xfrm>
            <a:off x="5981700" y="2743200"/>
            <a:ext cx="2305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Выбрать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свой полис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54DBAF38-86FF-4118-BCFC-EA98BAFD05EC}"/>
              </a:ext>
            </a:extLst>
          </p:cNvPr>
          <p:cNvSpPr>
            <a:spLocks noGrp="1"/>
          </p:cNvSpPr>
          <p:nvPr/>
        </p:nvSpPr>
        <p:spPr>
          <a:xfrm>
            <a:off x="9029700" y="274320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Подать заявление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по своему полису</a:t>
            </a:r>
          </a:p>
        </p:txBody>
      </p:sp>
      <p:sp>
        <p:nvSpPr>
          <p:cNvPr id="61" name="role-1-access-arrow">
            <a:extLst>
              <a:ext uri="{FF2B5EF4-FFF2-40B4-BE49-F238E27FC236}">
                <a16:creationId xmlns:a16="http://schemas.microsoft.com/office/drawing/2014/main" id="{5D9A1057-E462-4804-A545-4FA5A85300B4}"/>
              </a:ext>
            </a:extLst>
          </p:cNvPr>
          <p:cNvSpPr>
            <a:spLocks noGrp="1"/>
          </p:cNvSpPr>
          <p:nvPr/>
        </p:nvSpPr>
        <p:spPr>
          <a:xfrm>
            <a:off x="5353050" y="2847975"/>
            <a:ext cx="457200" cy="323850"/>
          </a:xfrm>
          <a:prstGeom prst="rightArrow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62" name="role-1-claim-arrow">
            <a:extLst>
              <a:ext uri="{FF2B5EF4-FFF2-40B4-BE49-F238E27FC236}">
                <a16:creationId xmlns:a16="http://schemas.microsoft.com/office/drawing/2014/main" id="{271474E0-8D87-4902-9724-3F27B79CA687}"/>
              </a:ext>
            </a:extLst>
          </p:cNvPr>
          <p:cNvSpPr>
            <a:spLocks noGrp="1"/>
          </p:cNvSpPr>
          <p:nvPr/>
        </p:nvSpPr>
        <p:spPr>
          <a:xfrm>
            <a:off x="8401050" y="2847975"/>
            <a:ext cx="457200" cy="323850"/>
          </a:xfrm>
          <a:prstGeom prst="rightArrow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4F3EEFCD-44C4-4EB8-AEE9-B88DC5A268FB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2076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Организация</a:t>
            </a:r>
          </a:p>
          <a:p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(юрлицо)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25701658-8F3A-4E26-97DE-475DEB62106D}"/>
              </a:ext>
            </a:extLst>
          </p:cNvPr>
          <p:cNvSpPr>
            <a:spLocks noGrp="1"/>
          </p:cNvSpPr>
          <p:nvPr/>
        </p:nvSpPr>
        <p:spPr>
          <a:xfrm>
            <a:off x="2876550" y="3810000"/>
            <a:ext cx="2305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Подтвердить роль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в организации</a:t>
            </a: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01F99BF1-A47D-4CD1-A1DB-E2FE73EC0AB0}"/>
              </a:ext>
            </a:extLst>
          </p:cNvPr>
          <p:cNvSpPr>
            <a:spLocks noGrp="1"/>
          </p:cNvSpPr>
          <p:nvPr/>
        </p:nvSpPr>
        <p:spPr>
          <a:xfrm>
            <a:off x="5981700" y="3810000"/>
            <a:ext cx="2305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Выбрать полис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организации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9A62613B-1BFE-4453-BCCC-9735807E2DBF}"/>
              </a:ext>
            </a:extLst>
          </p:cNvPr>
          <p:cNvSpPr>
            <a:spLocks noGrp="1"/>
          </p:cNvSpPr>
          <p:nvPr/>
        </p:nvSpPr>
        <p:spPr>
          <a:xfrm>
            <a:off x="9029700" y="381000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Подать заявление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от организации</a:t>
            </a:r>
          </a:p>
        </p:txBody>
      </p:sp>
      <p:sp>
        <p:nvSpPr>
          <p:cNvPr id="67" name="role-2-access-arrow">
            <a:extLst>
              <a:ext uri="{FF2B5EF4-FFF2-40B4-BE49-F238E27FC236}">
                <a16:creationId xmlns:a16="http://schemas.microsoft.com/office/drawing/2014/main" id="{F69060C3-C809-4598-A3B2-A58C3D42318B}"/>
              </a:ext>
            </a:extLst>
          </p:cNvPr>
          <p:cNvSpPr>
            <a:spLocks noGrp="1"/>
          </p:cNvSpPr>
          <p:nvPr/>
        </p:nvSpPr>
        <p:spPr>
          <a:xfrm>
            <a:off x="5353050" y="3914775"/>
            <a:ext cx="457200" cy="323850"/>
          </a:xfrm>
          <a:prstGeom prst="rightArrow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68" name="role-2-claim-arrow">
            <a:extLst>
              <a:ext uri="{FF2B5EF4-FFF2-40B4-BE49-F238E27FC236}">
                <a16:creationId xmlns:a16="http://schemas.microsoft.com/office/drawing/2014/main" id="{75D4F211-3246-458E-94D7-800ED18C071E}"/>
              </a:ext>
            </a:extLst>
          </p:cNvPr>
          <p:cNvSpPr>
            <a:spLocks noGrp="1"/>
          </p:cNvSpPr>
          <p:nvPr/>
        </p:nvSpPr>
        <p:spPr>
          <a:xfrm>
            <a:off x="8401050" y="3914775"/>
            <a:ext cx="457200" cy="323850"/>
          </a:xfrm>
          <a:prstGeom prst="rightArrow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E1291C22-EF43-4B41-803B-189DFF50069C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2076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Посредник</a:t>
            </a:r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A76ABD15-D7F9-4E6B-9A28-5B71EE4E95E2}"/>
              </a:ext>
            </a:extLst>
          </p:cNvPr>
          <p:cNvSpPr>
            <a:spLocks noGrp="1"/>
          </p:cNvSpPr>
          <p:nvPr/>
        </p:nvSpPr>
        <p:spPr>
          <a:xfrm>
            <a:off x="2876550" y="4876800"/>
            <a:ext cx="2305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Подтвердить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полномочия</a:t>
            </a:r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1ED88909-2C53-4432-ACF8-645AE1F9CB1A}"/>
              </a:ext>
            </a:extLst>
          </p:cNvPr>
          <p:cNvSpPr>
            <a:spLocks noGrp="1"/>
          </p:cNvSpPr>
          <p:nvPr/>
        </p:nvSpPr>
        <p:spPr>
          <a:xfrm>
            <a:off x="5981700" y="4876800"/>
            <a:ext cx="2305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Выбрать клиента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и его полис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7525C317-78A8-4EA8-83C3-C908B460AE37}"/>
              </a:ext>
            </a:extLst>
          </p:cNvPr>
          <p:cNvSpPr>
            <a:spLocks noGrp="1"/>
          </p:cNvSpPr>
          <p:nvPr/>
        </p:nvSpPr>
        <p:spPr>
          <a:xfrm>
            <a:off x="9029700" y="487680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Подать заявление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от имени клиента</a:t>
            </a:r>
          </a:p>
        </p:txBody>
      </p:sp>
      <p:sp>
        <p:nvSpPr>
          <p:cNvPr id="73" name="role-3-access-arrow">
            <a:extLst>
              <a:ext uri="{FF2B5EF4-FFF2-40B4-BE49-F238E27FC236}">
                <a16:creationId xmlns:a16="http://schemas.microsoft.com/office/drawing/2014/main" id="{C6ACF013-E1DB-4EEF-98CF-F27032AD75A8}"/>
              </a:ext>
            </a:extLst>
          </p:cNvPr>
          <p:cNvSpPr>
            <a:spLocks noGrp="1"/>
          </p:cNvSpPr>
          <p:nvPr/>
        </p:nvSpPr>
        <p:spPr>
          <a:xfrm>
            <a:off x="5353050" y="4981575"/>
            <a:ext cx="457200" cy="323850"/>
          </a:xfrm>
          <a:prstGeom prst="rightArrow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74" name="role-3-claim-arrow">
            <a:extLst>
              <a:ext uri="{FF2B5EF4-FFF2-40B4-BE49-F238E27FC236}">
                <a16:creationId xmlns:a16="http://schemas.microsoft.com/office/drawing/2014/main" id="{54BC4B46-2023-4960-95C2-434205DA4D62}"/>
              </a:ext>
            </a:extLst>
          </p:cNvPr>
          <p:cNvSpPr>
            <a:spLocks noGrp="1"/>
          </p:cNvSpPr>
          <p:nvPr/>
        </p:nvSpPr>
        <p:spPr>
          <a:xfrm>
            <a:off x="8401050" y="4981575"/>
            <a:ext cx="457200" cy="323850"/>
          </a:xfrm>
          <a:prstGeom prst="rightArrow">
            <a:avLst/>
          </a:prstGeom>
          <a:solidFill>
            <a:srgbClr val="00A6A6"/>
          </a:solidFill>
          <a:ln w="0">
            <a:noFill/>
            <a:prstDash val="solid"/>
          </a:ln>
        </p:spPr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55931CD7-7E12-49BA-B970-5A3382FBC957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Отдельно проверим права на изменение полиса и правила отзыва доступа представителя.</a:t>
            </a:r>
          </a:p>
        </p:txBody>
      </p:sp>
    </p:spTree>
    <p:extLst>
      <p:ext uri="{BB962C8B-B14F-4D97-AF65-F5344CB8AC3E}">
        <p14:creationId xmlns:p14="http://schemas.microsoft.com/office/powerpoint/2010/main" val="923028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DDA36915-BEC7-4CD1-AF45-1088B034F38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07  ОБЪЁМ ПЕРВОЙ ВЕРСИИ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AE311D0-EE32-40C8-ACA4-FA591A0059A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Границы первой версии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ADF5F526-3128-4539-BDE2-6B4B791E1101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38544B7-738A-4796-80A4-0BE34718BE9B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4933950" cy="3276600"/>
          </a:xfrm>
          <a:prstGeom prst="roundRect">
            <a:avLst>
              <a:gd name="adj" fmla="val 3333"/>
            </a:avLst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</p:sp>
      <p:sp>
        <p:nv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22ACF436-A215-4B33-B886-2DE5BEF7F642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774FD7A-F50D-4D0C-B6AB-98F1AC243295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00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C93"/>
                </a:solidFill>
                <a:latin typeface="Arial"/>
                <a:ea typeface="Arial"/>
                <a:cs typeface="Arial"/>
              </a:rPr>
              <a:t>Auto Insurance   /   Discovery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3FD12DC-B8C6-4BB6-B4A5-7CA7EB633E03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B7C9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9" name="slide-subtitle">
            <a:extLst>
              <a:ext uri="{FF2B5EF4-FFF2-40B4-BE49-F238E27FC236}">
                <a16:creationId xmlns:a16="http://schemas.microsoft.com/office/drawing/2014/main" id="{3F3467AA-CA9A-4822-AC94-30D84E0DF822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Компания обозначила базовые потребности. Детали функций уточним в ходе Discovery.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C22C91E-279A-4228-B41E-03915C2DA1C5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4400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Базовые потребности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6C20C219-CD60-4846-B221-BE7FB4913CB7}"/>
              </a:ext>
            </a:extLst>
          </p:cNvPr>
          <p:cNvSpPr>
            <a:spLocks noGrp="1"/>
          </p:cNvSpPr>
          <p:nvPr/>
        </p:nvSpPr>
        <p:spPr>
          <a:xfrm>
            <a:off x="952500" y="3133725"/>
            <a:ext cx="4362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Защищённый доступ для клиентов</a:t>
            </a:r>
          </a:p>
          <a:p>
            <a: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и компаний-посредников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8393648F-BCBF-416F-91A7-9F46561166E7}"/>
              </a:ext>
            </a:extLst>
          </p:cNvPr>
          <p:cNvSpPr>
            <a:spLocks noGrp="1"/>
          </p:cNvSpPr>
          <p:nvPr/>
        </p:nvSpPr>
        <p:spPr>
          <a:xfrm>
            <a:off x="952500" y="4057650"/>
            <a:ext cx="4362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Управление планами и полисами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4068048B-85F1-416D-9134-22E962A1EC92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4362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Регистрация страховых случаев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1D449A6F-45A6-408D-85DF-68E81FF4CACD}"/>
              </a:ext>
            </a:extLst>
          </p:cNvPr>
          <p:cNvSpPr>
            <a:spLocks noGrp="1"/>
          </p:cNvSpPr>
          <p:nvPr/>
        </p:nvSpPr>
        <p:spPr>
          <a:xfrm>
            <a:off x="6076950" y="2476500"/>
            <a:ext cx="542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Что предстоит согласовать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B840A6BA-EA1D-4F3D-9246-E1F14A6CF54F}"/>
              </a:ext>
            </a:extLst>
          </p:cNvPr>
          <p:cNvSpPr>
            <a:spLocks noGrp="1"/>
          </p:cNvSpPr>
          <p:nvPr/>
        </p:nvSpPr>
        <p:spPr>
          <a:xfrm>
            <a:off x="6076950" y="3133725"/>
            <a:ext cx="54292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486581"/>
                </a:solidFill>
                <a:latin typeface="Arial"/>
                <a:ea typeface="Arial"/>
                <a:cs typeface="Arial"/>
              </a:rPr>
              <a:t>Какие</a:t>
            </a:r>
            <a:r>
              <a:rPr sz="1650" b="0" dirty="0">
                <a:solidFill>
                  <a:srgbClr val="48658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486581"/>
                </a:solidFill>
                <a:latin typeface="Arial"/>
                <a:ea typeface="Arial"/>
                <a:cs typeface="Arial"/>
              </a:rPr>
              <a:t>изменения</a:t>
            </a:r>
            <a:r>
              <a:rPr sz="1650" b="0" dirty="0">
                <a:solidFill>
                  <a:srgbClr val="48658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486581"/>
                </a:solidFill>
                <a:latin typeface="Arial"/>
                <a:ea typeface="Arial"/>
                <a:cs typeface="Arial"/>
              </a:rPr>
              <a:t>полиса</a:t>
            </a:r>
            <a:r>
              <a:rPr sz="1650" b="0" dirty="0">
                <a:solidFill>
                  <a:srgbClr val="48658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486581"/>
                </a:solidFill>
                <a:latin typeface="Arial"/>
                <a:ea typeface="Arial"/>
                <a:cs typeface="Arial"/>
              </a:rPr>
              <a:t>доступны</a:t>
            </a:r>
            <a:r>
              <a:rPr sz="1650" b="0" dirty="0">
                <a:solidFill>
                  <a:srgbClr val="48658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486581"/>
                </a:solidFill>
                <a:latin typeface="Arial"/>
                <a:ea typeface="Arial"/>
                <a:cs typeface="Arial"/>
              </a:rPr>
              <a:t>онлайн</a:t>
            </a:r>
            <a:endParaRPr sz="1650" b="0" dirty="0">
              <a:solidFill>
                <a:srgbClr val="4865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E6DF3997-5FFD-48E7-98AF-878EFBB38A0A}"/>
              </a:ext>
            </a:extLst>
          </p:cNvPr>
          <p:cNvSpPr>
            <a:spLocks noGrp="1"/>
          </p:cNvSpPr>
          <p:nvPr/>
        </p:nvSpPr>
        <p:spPr>
          <a:xfrm>
            <a:off x="6076950" y="3743325"/>
            <a:ext cx="54292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486581"/>
                </a:solidFill>
                <a:latin typeface="Arial"/>
                <a:ea typeface="Arial"/>
                <a:cs typeface="Arial"/>
              </a:rPr>
              <a:t>Нужны</a:t>
            </a:r>
            <a:r>
              <a:rPr sz="1650" b="0" dirty="0">
                <a:solidFill>
                  <a:srgbClr val="48658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486581"/>
                </a:solidFill>
                <a:latin typeface="Arial"/>
                <a:ea typeface="Arial"/>
                <a:cs typeface="Arial"/>
              </a:rPr>
              <a:t>ли</a:t>
            </a:r>
            <a:r>
              <a:rPr sz="1650" b="0" dirty="0">
                <a:solidFill>
                  <a:srgbClr val="486581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486581"/>
                </a:solidFill>
                <a:latin typeface="Arial"/>
                <a:ea typeface="Arial"/>
                <a:cs typeface="Arial"/>
              </a:rPr>
              <a:t>статусы</a:t>
            </a:r>
            <a:r>
              <a:rPr sz="1650" b="0" dirty="0">
                <a:solidFill>
                  <a:srgbClr val="486581"/>
                </a:solidFill>
                <a:latin typeface="Arial"/>
                <a:ea typeface="Arial"/>
                <a:cs typeface="Arial"/>
              </a:rPr>
              <a:t>, </a:t>
            </a:r>
            <a:r>
              <a:rPr sz="1650" b="0" dirty="0" err="1">
                <a:solidFill>
                  <a:srgbClr val="486581"/>
                </a:solidFill>
                <a:latin typeface="Arial"/>
                <a:ea typeface="Arial"/>
                <a:cs typeface="Arial"/>
              </a:rPr>
              <a:t>уведомления</a:t>
            </a:r>
            <a:r>
              <a:rPr sz="1650" b="0" dirty="0">
                <a:solidFill>
                  <a:srgbClr val="486581"/>
                </a:solidFill>
                <a:latin typeface="Arial"/>
                <a:ea typeface="Arial"/>
                <a:cs typeface="Arial"/>
              </a:rPr>
              <a:t> и </a:t>
            </a:r>
            <a:r>
              <a:rPr sz="1650" b="0" dirty="0" err="1">
                <a:solidFill>
                  <a:srgbClr val="486581"/>
                </a:solidFill>
                <a:latin typeface="Arial"/>
                <a:ea typeface="Arial"/>
                <a:cs typeface="Arial"/>
              </a:rPr>
              <a:t>история</a:t>
            </a:r>
            <a:endParaRPr sz="1650" b="0" dirty="0">
              <a:solidFill>
                <a:srgbClr val="48658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CE040ED4-E8BA-4318-B037-EB03E30928DF}"/>
              </a:ext>
            </a:extLst>
          </p:cNvPr>
          <p:cNvSpPr>
            <a:spLocks noGrp="1"/>
          </p:cNvSpPr>
          <p:nvPr/>
        </p:nvSpPr>
        <p:spPr>
          <a:xfrm>
            <a:off x="6076950" y="4352925"/>
            <a:ext cx="54292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Как сотрудник обрабатывает заявление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7D429389-AEA0-47D0-87C2-E5F4146B3D0B}"/>
              </a:ext>
            </a:extLst>
          </p:cNvPr>
          <p:cNvSpPr>
            <a:spLocks noGrp="1"/>
          </p:cNvSpPr>
          <p:nvPr/>
        </p:nvSpPr>
        <p:spPr>
          <a:xfrm>
            <a:off x="6076950" y="4962525"/>
            <a:ext cx="54292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Какие данные переносить и с чем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связать портал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85993DF2-6D36-4C6A-8C3E-556508CA34FB}"/>
              </a:ext>
            </a:extLst>
          </p:cNvPr>
          <p:cNvSpPr>
            <a:spLocks noGrp="1"/>
          </p:cNvSpPr>
          <p:nvPr/>
        </p:nvSpPr>
        <p:spPr>
          <a:xfrm>
            <a:off x="685800" y="5915025"/>
            <a:ext cx="1082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Приоритеты согласуем по пользе клиентам, объёму ручной работы и стоимости внедрения.</a:t>
            </a:r>
          </a:p>
        </p:txBody>
      </p:sp>
    </p:spTree>
    <p:extLst>
      <p:ext uri="{BB962C8B-B14F-4D97-AF65-F5344CB8AC3E}">
        <p14:creationId xmlns:p14="http://schemas.microsoft.com/office/powerpoint/2010/main" val="177764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A7FD0D3B-385B-4F76-9CDA-47657DDC014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47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08  ОГРАНИЧЕНИЯ И РИСКИ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E355FF8-22FD-485C-840B-043A3E42433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8204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Безопасность, данные и поддержка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B18784EF-2B28-46CB-8C6A-73DB072BD12A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D8AF82C4-912C-4D2E-B845-6831524D1F7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AC11669B-891F-43B9-9ECD-C2DCF3883FED}"/>
              </a:ext>
            </a:extLst>
          </p:cNvPr>
          <p:cNvSpPr>
            <a:spLocks noGrp="1"/>
          </p:cNvSpPr>
          <p:nvPr/>
        </p:nvSpPr>
        <p:spPr>
          <a:xfrm>
            <a:off x="685800" y="658177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900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825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C93"/>
                </a:solidFill>
                <a:latin typeface="Arial"/>
                <a:ea typeface="Arial"/>
                <a:cs typeface="Arial"/>
              </a:rPr>
              <a:t>Auto Insurance   /   Discovery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DD8328D3-3C66-4F0D-9715-47F710C80C51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825" b="1">
                <a:solidFill>
                  <a:srgbClr val="6B7C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B7C9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7" name="slide-subtitle">
            <a:extLst>
              <a:ext uri="{FF2B5EF4-FFF2-40B4-BE49-F238E27FC236}">
                <a16:creationId xmlns:a16="http://schemas.microsoft.com/office/drawing/2014/main" id="{580567ED-CB78-4AC8-AA2A-97BA5D9CADF4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Проверим риски, которые могут изменить объём, стоимость и сроки проекта.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CF6B0939-FC60-451C-ADAF-0ADE3BCA03F4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2714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Доступ к чужим данным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5A15B005-4906-428C-9E5D-FCB48B4E6FD6}"/>
              </a:ext>
            </a:extLst>
          </p:cNvPr>
          <p:cNvSpPr>
            <a:spLocks noGrp="1"/>
          </p:cNvSpPr>
          <p:nvPr/>
        </p:nvSpPr>
        <p:spPr>
          <a:xfrm>
            <a:off x="3762375" y="2247900"/>
            <a:ext cx="77438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Согласуем роли, подтверждение полномочий и отзыв доступа.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Определим, какие действия записывать в журнал.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FEBD2440-FFE9-4D63-BD36-E01A6882202F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2714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Персональные данные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A65A68A2-0948-4E88-A5BE-A0B244D2BACB}"/>
              </a:ext>
            </a:extLst>
          </p:cNvPr>
          <p:cNvSpPr>
            <a:spLocks noGrp="1"/>
          </p:cNvSpPr>
          <p:nvPr/>
        </p:nvSpPr>
        <p:spPr>
          <a:xfrm>
            <a:off x="3762375" y="3181350"/>
            <a:ext cx="77438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С юристом определим состав сведений, основания обработки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и сроки хранения документов.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F889B462-7BED-4A63-95A0-DDF1928B8CFF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2714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Данные из Google-папки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53D74FFB-1A6E-4317-BFEF-A92677E070C4}"/>
              </a:ext>
            </a:extLst>
          </p:cNvPr>
          <p:cNvSpPr>
            <a:spLocks noGrp="1"/>
          </p:cNvSpPr>
          <p:nvPr/>
        </p:nvSpPr>
        <p:spPr>
          <a:xfrm>
            <a:off x="3762375" y="4114800"/>
            <a:ext cx="77438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Проверим полноту и дубли. Выясним, где хранить актуальные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полисы и как переносить сведения в портал.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3646B309-7E25-4F4E-BB4B-5F331D89B2C6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714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Работа после запуска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72062058-9445-4B15-9541-38DE2F81F6D2}"/>
              </a:ext>
            </a:extLst>
          </p:cNvPr>
          <p:cNvSpPr>
            <a:spLocks noGrp="1"/>
          </p:cNvSpPr>
          <p:nvPr/>
        </p:nvSpPr>
        <p:spPr>
          <a:xfrm>
            <a:off x="3762375" y="5048250"/>
            <a:ext cx="77438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Уточним обмен с системами и порядок действий при сбоях.</a:t>
            </a:r>
          </a:p>
          <a:p>
            <a:pPr algn="l">
              <a:defRPr sz="16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581"/>
                </a:solidFill>
                <a:latin typeface="Arial"/>
                <a:ea typeface="Arial"/>
                <a:cs typeface="Arial"/>
              </a:rPr>
              <a:t>Определим ответственных за поддержку.</a:t>
            </a:r>
          </a:p>
        </p:txBody>
      </p:sp>
    </p:spTree>
    <p:extLst>
      <p:ext uri="{BB962C8B-B14F-4D97-AF65-F5344CB8AC3E}">
        <p14:creationId xmlns:p14="http://schemas.microsoft.com/office/powerpoint/2010/main" val="1170496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4AB29EF-146D-4F4B-8745-033773A6D5D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52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0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9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7E3DC"/>
                </a:solidFill>
                <a:latin typeface="Arial"/>
                <a:ea typeface="Arial"/>
                <a:cs typeface="Arial"/>
              </a:rPr>
              <a:t>09  ЗАВЕРШЕНИЕ DISCOVERY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1B1192-F817-4A96-8476-524AB34392B1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 по итогам исследования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049DA2B-9C57-4512-ADBC-477035E57C9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0"/>
          </a:xfrm>
          <a:prstGeom prst="line">
            <a:avLst/>
          </a:prstGeom>
          <a:noFill/>
          <a:ln w="9525">
            <a:solidFill>
              <a:srgbClr val="355873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80B0FDE-C9BD-4213-BCC5-21C3F2EE9211}"/>
              </a:ext>
            </a:extLst>
          </p:cNvPr>
          <p:cNvSpPr>
            <a:spLocks noGrp="1"/>
          </p:cNvSpPr>
          <p:nvPr/>
        </p:nvSpPr>
        <p:spPr>
          <a:xfrm>
            <a:off x="685800" y="2028825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получит руководство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19D5232-FF49-4F9F-BBCE-E0BC59DDC676}"/>
              </a:ext>
            </a:extLst>
          </p:cNvPr>
          <p:cNvSpPr>
            <a:spLocks noGrp="1"/>
          </p:cNvSpPr>
          <p:nvPr/>
        </p:nvSpPr>
        <p:spPr>
          <a:xfrm>
            <a:off x="685800" y="2600325"/>
            <a:ext cx="5810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Согласованные цели и показатели успеха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CD6CD32-B62F-426D-AFC5-2C74E438BABE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5810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Процессы, роли и правила доступа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CA0FDFF-3448-40B1-A8C5-F5BC90C5F02E}"/>
              </a:ext>
            </a:extLst>
          </p:cNvPr>
          <p:cNvSpPr>
            <a:spLocks noGrp="1"/>
          </p:cNvSpPr>
          <p:nvPr/>
        </p:nvSpPr>
        <p:spPr>
          <a:xfrm>
            <a:off x="685800" y="3495675"/>
            <a:ext cx="5810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Проверенный прототип ключевых сценариев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8D31771-7CEB-4082-8318-E89081566B35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5810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Объём первой версии и критерии приёмки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522BE15-779B-40D6-9ADF-4C8BAFCDF574}"/>
              </a:ext>
            </a:extLst>
          </p:cNvPr>
          <p:cNvSpPr>
            <a:spLocks noGrp="1"/>
          </p:cNvSpPr>
          <p:nvPr/>
        </p:nvSpPr>
        <p:spPr>
          <a:xfrm>
            <a:off x="685800" y="4391025"/>
            <a:ext cx="5810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Риски и зависимости проекта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874B48E-ABE6-402E-96EE-98D0728A6AE3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5810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Предварительные сроки и затраты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1B0B34F8-05B9-45B5-9F94-3B7781BD1F27}"/>
              </a:ext>
            </a:extLst>
          </p:cNvPr>
          <p:cNvSpPr>
            <a:spLocks noGrp="1"/>
          </p:cNvSpPr>
          <p:nvPr/>
        </p:nvSpPr>
        <p:spPr>
          <a:xfrm>
            <a:off x="7239000" y="2028825"/>
            <a:ext cx="426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 о проекте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54ACAB7-B086-4F5B-AD1C-D78760D7A03F}"/>
              </a:ext>
            </a:extLst>
          </p:cNvPr>
          <p:cNvSpPr>
            <a:spLocks noGrp="1"/>
          </p:cNvSpPr>
          <p:nvPr/>
        </p:nvSpPr>
        <p:spPr>
          <a:xfrm>
            <a:off x="7239000" y="2695575"/>
            <a:ext cx="4267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Начать проектирование и разработку,</a:t>
            </a:r>
          </a:p>
          <a:p>
            <a: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уточнить спорные вопросы</a:t>
            </a:r>
          </a:p>
          <a:p>
            <a: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или отложить проект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7068BBD7-4C2D-4FC3-BE03-358D5EC2E16B}"/>
              </a:ext>
            </a:extLst>
          </p:cNvPr>
          <p:cNvSpPr>
            <a:spLocks noGrp="1"/>
          </p:cNvSpPr>
          <p:nvPr/>
        </p:nvSpPr>
        <p:spPr>
          <a:xfrm>
            <a:off x="7239000" y="4029075"/>
            <a:ext cx="426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7E3DC"/>
                </a:solidFill>
                <a:latin typeface="Arial"/>
                <a:ea typeface="Arial"/>
                <a:cs typeface="Arial"/>
              </a:rPr>
              <a:t>Условие завершения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FD5730D2-3605-44C9-9802-040535EEDD58}"/>
              </a:ext>
            </a:extLst>
          </p:cNvPr>
          <p:cNvSpPr>
            <a:spLocks noGrp="1"/>
          </p:cNvSpPr>
          <p:nvPr/>
        </p:nvSpPr>
        <p:spPr>
          <a:xfrm>
            <a:off x="7239000" y="4505325"/>
            <a:ext cx="42672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Заказчик согласовал объём первой</a:t>
            </a:r>
          </a:p>
          <a:p>
            <a:pPr algn="l">
              <a:defRPr sz="1650" b="0">
                <a:solidFill>
                  <a:srgbClr val="E6EE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EF5"/>
                </a:solidFill>
                <a:latin typeface="Arial"/>
                <a:ea typeface="Arial"/>
                <a:cs typeface="Arial"/>
              </a:rPr>
              <a:t>версии, риски и следующий этап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724B4586-3FAA-47D2-8E5B-F90D7FB06F1D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77E3D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7E3DC"/>
                </a:solidFill>
                <a:latin typeface="Arial"/>
                <a:ea typeface="Arial"/>
                <a:cs typeface="Arial"/>
              </a:rPr>
              <a:t>Для старта нужны заказчик проекта, доступ к участникам и документам, 3–4 недели.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F8A9C5BB-89E4-4C90-9C46-9B5B23EE346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714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B4C6D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4C6D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4C6D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4C6D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4C6D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4C6D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4C6D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4C6D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4C6D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4C6D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0">
                <a:solidFill>
                  <a:srgbClr val="B4C6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4C6D7"/>
                </a:solidFill>
                <a:latin typeface="Arial"/>
                <a:ea typeface="Arial"/>
                <a:cs typeface="Arial"/>
              </a:rPr>
              <a:t>Левшуков Дмитрий, ст. гр. 353504</a:t>
            </a:r>
          </a:p>
        </p:txBody>
      </p:sp>
    </p:spTree>
    <p:extLst>
      <p:ext uri="{BB962C8B-B14F-4D97-AF65-F5344CB8AC3E}">
        <p14:creationId xmlns:p14="http://schemas.microsoft.com/office/powerpoint/2010/main" val="4468378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1694</Words>
  <Application>Microsoft Office PowerPoint</Application>
  <DocSecurity>0</DocSecurity>
  <PresentationFormat>Широкоэкранный</PresentationFormat>
  <Paragraphs>242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Aptos</vt:lpstr>
      <vt:lpstr>Arial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Dzmitry Leushukou</cp:lastModifiedBy>
  <cp:revision>1</cp:revision>
  <dcterms:created xsi:type="dcterms:W3CDTF">2026-10-23T09:53:04Z</dcterms:created>
  <dcterms:modified xsi:type="dcterms:W3CDTF">2026-10-23T10:21:46Z</dcterms:modified>
</cp:coreProperties>
</file>